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 id="2147483672" r:id="rId5"/>
  </p:sldMasterIdLst>
  <p:notesMasterIdLst>
    <p:notesMasterId r:id="rId22"/>
  </p:notesMasterIdLst>
  <p:sldIdLst>
    <p:sldId id="328" r:id="rId6"/>
    <p:sldId id="256" r:id="rId7"/>
    <p:sldId id="257" r:id="rId8"/>
    <p:sldId id="274" r:id="rId9"/>
    <p:sldId id="260" r:id="rId10"/>
    <p:sldId id="289" r:id="rId11"/>
    <p:sldId id="262" r:id="rId12"/>
    <p:sldId id="263" r:id="rId13"/>
    <p:sldId id="264" r:id="rId14"/>
    <p:sldId id="290" r:id="rId15"/>
    <p:sldId id="258" r:id="rId16"/>
    <p:sldId id="291" r:id="rId17"/>
    <p:sldId id="292" r:id="rId18"/>
    <p:sldId id="336" r:id="rId19"/>
    <p:sldId id="335" r:id="rId20"/>
    <p:sldId id="333" r:id="rId21"/>
  </p:sldIdLst>
  <p:sldSz cx="12192000" cy="6858000"/>
  <p:notesSz cx="6858000" cy="9144000"/>
  <p:embeddedFontLst>
    <p:embeddedFont>
      <p:font typeface="Cambria Math" panose="02040503050406030204" pitchFamily="18" charset="0"/>
      <p:regular r:id="rId23"/>
    </p:embeddedFont>
    <p:embeddedFont>
      <p:font typeface="Consolas" panose="020B0609020204030204" pitchFamily="49"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7B68EE"/>
    <a:srgbClr val="7D1D9C"/>
    <a:srgbClr val="1CB478"/>
    <a:srgbClr val="929292"/>
    <a:srgbClr val="FFFFFF"/>
    <a:srgbClr val="000080"/>
    <a:srgbClr val="0000CD"/>
    <a:srgbClr val="3B719F"/>
    <a:srgbClr val="FF535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26E455-E992-40EB-A2A3-D1B7C06A5187}" v="58" dt="2026-09-10T09:21:59.4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0395" autoAdjust="0"/>
  </p:normalViewPr>
  <p:slideViewPr>
    <p:cSldViewPr snapToGrid="0">
      <p:cViewPr varScale="1">
        <p:scale>
          <a:sx n="77" d="100"/>
          <a:sy n="77" d="100"/>
        </p:scale>
        <p:origin x="675" y="57"/>
      </p:cViewPr>
      <p:guideLst/>
    </p:cSldViewPr>
  </p:slideViewPr>
  <p:notesTextViewPr>
    <p:cViewPr>
      <p:scale>
        <a:sx n="3" d="2"/>
        <a:sy n="3" d="2"/>
      </p:scale>
      <p:origin x="0" y="0"/>
    </p:cViewPr>
  </p:notesTextViewPr>
  <p:notesViewPr>
    <p:cSldViewPr snapToGrid="0">
      <p:cViewPr varScale="1">
        <p:scale>
          <a:sx n="85" d="100"/>
          <a:sy n="85" d="100"/>
        </p:scale>
        <p:origin x="388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3.fntdata"/><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2.fntdata"/><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theme" Target="theme/theme1.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odman, Dan" userId="3856083d-7deb-434e-baee-35426c02f58e" providerId="ADAL" clId="{C97C92AB-C3B2-416F-B493-D5EF17F60F5A}"/>
    <pc:docChg chg="undo custSel addSld delSld modSld">
      <pc:chgData name="Goodman, Dan" userId="3856083d-7deb-434e-baee-35426c02f58e" providerId="ADAL" clId="{C97C92AB-C3B2-416F-B493-D5EF17F60F5A}" dt="2026-09-10T09:21:59.414" v="3394"/>
      <pc:docMkLst>
        <pc:docMk/>
      </pc:docMkLst>
      <pc:sldChg chg="addSp modSp mod">
        <pc:chgData name="Goodman, Dan" userId="3856083d-7deb-434e-baee-35426c02f58e" providerId="ADAL" clId="{C97C92AB-C3B2-416F-B493-D5EF17F60F5A}" dt="2026-09-08T15:34:32.291" v="1111" actId="1076"/>
        <pc:sldMkLst>
          <pc:docMk/>
          <pc:sldMk cId="304400715" sldId="256"/>
        </pc:sldMkLst>
        <pc:spChg chg="mod">
          <ac:chgData name="Goodman, Dan" userId="3856083d-7deb-434e-baee-35426c02f58e" providerId="ADAL" clId="{C97C92AB-C3B2-416F-B493-D5EF17F60F5A}" dt="2026-09-07T09:55:32.537" v="7" actId="14100"/>
          <ac:spMkLst>
            <pc:docMk/>
            <pc:sldMk cId="304400715" sldId="256"/>
            <ac:spMk id="2" creationId="{600D58D3-021C-429A-BBEA-917A6E431D9B}"/>
          </ac:spMkLst>
        </pc:spChg>
        <pc:spChg chg="add mod">
          <ac:chgData name="Goodman, Dan" userId="3856083d-7deb-434e-baee-35426c02f58e" providerId="ADAL" clId="{C97C92AB-C3B2-416F-B493-D5EF17F60F5A}" dt="2026-09-08T15:34:32.291" v="1111" actId="1076"/>
          <ac:spMkLst>
            <pc:docMk/>
            <pc:sldMk cId="304400715" sldId="256"/>
            <ac:spMk id="7" creationId="{BB897701-735B-FFC5-56A3-2D09C925A2C9}"/>
          </ac:spMkLst>
        </pc:spChg>
        <pc:picChg chg="add mod">
          <ac:chgData name="Goodman, Dan" userId="3856083d-7deb-434e-baee-35426c02f58e" providerId="ADAL" clId="{C97C92AB-C3B2-416F-B493-D5EF17F60F5A}" dt="2026-09-08T15:34:06.180" v="1089" actId="14100"/>
          <ac:picMkLst>
            <pc:docMk/>
            <pc:sldMk cId="304400715" sldId="256"/>
            <ac:picMk id="4" creationId="{2E403E2F-6C59-1D1E-951E-47EF258DE60C}"/>
          </ac:picMkLst>
        </pc:picChg>
      </pc:sldChg>
      <pc:sldChg chg="addSp delSp modSp new mod modAnim">
        <pc:chgData name="Goodman, Dan" userId="3856083d-7deb-434e-baee-35426c02f58e" providerId="ADAL" clId="{C97C92AB-C3B2-416F-B493-D5EF17F60F5A}" dt="2026-09-08T16:18:08.019" v="3196" actId="22"/>
        <pc:sldMkLst>
          <pc:docMk/>
          <pc:sldMk cId="1841873425" sldId="257"/>
        </pc:sldMkLst>
        <pc:spChg chg="mod">
          <ac:chgData name="Goodman, Dan" userId="3856083d-7deb-434e-baee-35426c02f58e" providerId="ADAL" clId="{C97C92AB-C3B2-416F-B493-D5EF17F60F5A}" dt="2026-09-08T15:27:59.152" v="22" actId="20577"/>
          <ac:spMkLst>
            <pc:docMk/>
            <pc:sldMk cId="1841873425" sldId="257"/>
            <ac:spMk id="2" creationId="{6771E1B0-2C1E-B100-BCED-AC7405856DF7}"/>
          </ac:spMkLst>
        </pc:spChg>
        <pc:spChg chg="mod">
          <ac:chgData name="Goodman, Dan" userId="3856083d-7deb-434e-baee-35426c02f58e" providerId="ADAL" clId="{C97C92AB-C3B2-416F-B493-D5EF17F60F5A}" dt="2026-09-08T15:33:10.855" v="1081" actId="20577"/>
          <ac:spMkLst>
            <pc:docMk/>
            <pc:sldMk cId="1841873425" sldId="257"/>
            <ac:spMk id="3" creationId="{E1299331-DB08-918D-F479-F1306930FB6A}"/>
          </ac:spMkLst>
        </pc:spChg>
      </pc:sldChg>
      <pc:sldChg chg="modSp new mod addAnim delAnim modAnim">
        <pc:chgData name="Goodman, Dan" userId="3856083d-7deb-434e-baee-35426c02f58e" providerId="ADAL" clId="{C97C92AB-C3B2-416F-B493-D5EF17F60F5A}" dt="2026-09-08T16:28:48.929" v="3379"/>
        <pc:sldMkLst>
          <pc:docMk/>
          <pc:sldMk cId="3058400301" sldId="258"/>
        </pc:sldMkLst>
        <pc:spChg chg="mod">
          <ac:chgData name="Goodman, Dan" userId="3856083d-7deb-434e-baee-35426c02f58e" providerId="ADAL" clId="{C97C92AB-C3B2-416F-B493-D5EF17F60F5A}" dt="2026-09-08T15:43:25.902" v="1729" actId="20577"/>
          <ac:spMkLst>
            <pc:docMk/>
            <pc:sldMk cId="3058400301" sldId="258"/>
            <ac:spMk id="2" creationId="{6C21DE7D-B51F-FCE2-F1A5-63AE3C469F33}"/>
          </ac:spMkLst>
        </pc:spChg>
        <pc:spChg chg="mod">
          <ac:chgData name="Goodman, Dan" userId="3856083d-7deb-434e-baee-35426c02f58e" providerId="ADAL" clId="{C97C92AB-C3B2-416F-B493-D5EF17F60F5A}" dt="2026-09-08T15:50:05.956" v="2058" actId="20577"/>
          <ac:spMkLst>
            <pc:docMk/>
            <pc:sldMk cId="3058400301" sldId="258"/>
            <ac:spMk id="3" creationId="{D40920DD-011A-679E-C787-70472AA1627B}"/>
          </ac:spMkLst>
        </pc:spChg>
      </pc:sldChg>
      <pc:sldChg chg="add">
        <pc:chgData name="Goodman, Dan" userId="3856083d-7deb-434e-baee-35426c02f58e" providerId="ADAL" clId="{C97C92AB-C3B2-416F-B493-D5EF17F60F5A}" dt="2026-09-08T15:36:07.058" v="1112"/>
        <pc:sldMkLst>
          <pc:docMk/>
          <pc:sldMk cId="3720083304" sldId="260"/>
        </pc:sldMkLst>
      </pc:sldChg>
      <pc:sldChg chg="add">
        <pc:chgData name="Goodman, Dan" userId="3856083d-7deb-434e-baee-35426c02f58e" providerId="ADAL" clId="{C97C92AB-C3B2-416F-B493-D5EF17F60F5A}" dt="2026-09-08T15:36:07.058" v="1112"/>
        <pc:sldMkLst>
          <pc:docMk/>
          <pc:sldMk cId="3144650774" sldId="262"/>
        </pc:sldMkLst>
      </pc:sldChg>
      <pc:sldChg chg="add">
        <pc:chgData name="Goodman, Dan" userId="3856083d-7deb-434e-baee-35426c02f58e" providerId="ADAL" clId="{C97C92AB-C3B2-416F-B493-D5EF17F60F5A}" dt="2026-09-08T15:36:07.058" v="1112"/>
        <pc:sldMkLst>
          <pc:docMk/>
          <pc:sldMk cId="129687743" sldId="263"/>
        </pc:sldMkLst>
      </pc:sldChg>
      <pc:sldChg chg="add">
        <pc:chgData name="Goodman, Dan" userId="3856083d-7deb-434e-baee-35426c02f58e" providerId="ADAL" clId="{C97C92AB-C3B2-416F-B493-D5EF17F60F5A}" dt="2026-09-08T15:36:07.058" v="1112"/>
        <pc:sldMkLst>
          <pc:docMk/>
          <pc:sldMk cId="2077219861" sldId="264"/>
        </pc:sldMkLst>
      </pc:sldChg>
      <pc:sldChg chg="add">
        <pc:chgData name="Goodman, Dan" userId="3856083d-7deb-434e-baee-35426c02f58e" providerId="ADAL" clId="{C97C92AB-C3B2-416F-B493-D5EF17F60F5A}" dt="2026-09-08T16:18:13.066" v="3197"/>
        <pc:sldMkLst>
          <pc:docMk/>
          <pc:sldMk cId="2574493555" sldId="274"/>
        </pc:sldMkLst>
      </pc:sldChg>
      <pc:sldChg chg="add">
        <pc:chgData name="Goodman, Dan" userId="3856083d-7deb-434e-baee-35426c02f58e" providerId="ADAL" clId="{C97C92AB-C3B2-416F-B493-D5EF17F60F5A}" dt="2026-09-08T15:36:07.058" v="1112"/>
        <pc:sldMkLst>
          <pc:docMk/>
          <pc:sldMk cId="1215021878" sldId="289"/>
        </pc:sldMkLst>
      </pc:sldChg>
      <pc:sldChg chg="modSp new mod modAnim">
        <pc:chgData name="Goodman, Dan" userId="3856083d-7deb-434e-baee-35426c02f58e" providerId="ADAL" clId="{C97C92AB-C3B2-416F-B493-D5EF17F60F5A}" dt="2026-09-08T16:28:30.002" v="3377"/>
        <pc:sldMkLst>
          <pc:docMk/>
          <pc:sldMk cId="3624522724" sldId="290"/>
        </pc:sldMkLst>
        <pc:spChg chg="mod">
          <ac:chgData name="Goodman, Dan" userId="3856083d-7deb-434e-baee-35426c02f58e" providerId="ADAL" clId="{C97C92AB-C3B2-416F-B493-D5EF17F60F5A}" dt="2026-09-08T15:39:52.732" v="1189" actId="20577"/>
          <ac:spMkLst>
            <pc:docMk/>
            <pc:sldMk cId="3624522724" sldId="290"/>
            <ac:spMk id="2" creationId="{9343D726-2D77-8254-18F8-3851DDD555BA}"/>
          </ac:spMkLst>
        </pc:spChg>
        <pc:spChg chg="mod">
          <ac:chgData name="Goodman, Dan" userId="3856083d-7deb-434e-baee-35426c02f58e" providerId="ADAL" clId="{C97C92AB-C3B2-416F-B493-D5EF17F60F5A}" dt="2026-09-08T15:42:45.631" v="1694" actId="20577"/>
          <ac:spMkLst>
            <pc:docMk/>
            <pc:sldMk cId="3624522724" sldId="290"/>
            <ac:spMk id="3" creationId="{DB6998BA-F28B-E5B9-0FBD-360E93C7F52E}"/>
          </ac:spMkLst>
        </pc:spChg>
      </pc:sldChg>
      <pc:sldChg chg="addSp delSp modSp new mod addAnim delAnim modAnim">
        <pc:chgData name="Goodman, Dan" userId="3856083d-7deb-434e-baee-35426c02f58e" providerId="ADAL" clId="{C97C92AB-C3B2-416F-B493-D5EF17F60F5A}" dt="2026-09-08T16:29:25.897" v="3391"/>
        <pc:sldMkLst>
          <pc:docMk/>
          <pc:sldMk cId="1338981590" sldId="291"/>
        </pc:sldMkLst>
        <pc:spChg chg="mod">
          <ac:chgData name="Goodman, Dan" userId="3856083d-7deb-434e-baee-35426c02f58e" providerId="ADAL" clId="{C97C92AB-C3B2-416F-B493-D5EF17F60F5A}" dt="2026-09-08T15:57:18.878" v="2566"/>
          <ac:spMkLst>
            <pc:docMk/>
            <pc:sldMk cId="1338981590" sldId="291"/>
            <ac:spMk id="2" creationId="{541CDA5F-DE96-0220-53D4-518B10660A94}"/>
          </ac:spMkLst>
        </pc:spChg>
        <pc:spChg chg="mod">
          <ac:chgData name="Goodman, Dan" userId="3856083d-7deb-434e-baee-35426c02f58e" providerId="ADAL" clId="{C97C92AB-C3B2-416F-B493-D5EF17F60F5A}" dt="2026-09-08T15:57:05.589" v="2564" actId="20577"/>
          <ac:spMkLst>
            <pc:docMk/>
            <pc:sldMk cId="1338981590" sldId="291"/>
            <ac:spMk id="3" creationId="{A7FC76EF-FD6F-63AE-38A4-4F9C0E752C69}"/>
          </ac:spMkLst>
        </pc:spChg>
        <pc:spChg chg="add mod">
          <ac:chgData name="Goodman, Dan" userId="3856083d-7deb-434e-baee-35426c02f58e" providerId="ADAL" clId="{C97C92AB-C3B2-416F-B493-D5EF17F60F5A}" dt="2026-09-08T15:56:28.480" v="2482" actId="164"/>
          <ac:spMkLst>
            <pc:docMk/>
            <pc:sldMk cId="1338981590" sldId="291"/>
            <ac:spMk id="5" creationId="{16B15BB4-E91C-4478-BDE2-11DB14DEF0C5}"/>
          </ac:spMkLst>
        </pc:spChg>
        <pc:spChg chg="add mod">
          <ac:chgData name="Goodman, Dan" userId="3856083d-7deb-434e-baee-35426c02f58e" providerId="ADAL" clId="{C97C92AB-C3B2-416F-B493-D5EF17F60F5A}" dt="2026-09-08T15:56:31.676" v="2483" actId="164"/>
          <ac:spMkLst>
            <pc:docMk/>
            <pc:sldMk cId="1338981590" sldId="291"/>
            <ac:spMk id="7" creationId="{D1C8E60F-232A-0CED-9F12-BA5A83B57CEB}"/>
          </ac:spMkLst>
        </pc:spChg>
        <pc:spChg chg="add mod">
          <ac:chgData name="Goodman, Dan" userId="3856083d-7deb-434e-baee-35426c02f58e" providerId="ADAL" clId="{C97C92AB-C3B2-416F-B493-D5EF17F60F5A}" dt="2026-09-08T15:56:35.777" v="2484" actId="164"/>
          <ac:spMkLst>
            <pc:docMk/>
            <pc:sldMk cId="1338981590" sldId="291"/>
            <ac:spMk id="12" creationId="{3531C500-7E4A-4FFD-DB85-5B4D133D1CD0}"/>
          </ac:spMkLst>
        </pc:spChg>
        <pc:grpChg chg="add mod">
          <ac:chgData name="Goodman, Dan" userId="3856083d-7deb-434e-baee-35426c02f58e" providerId="ADAL" clId="{C97C92AB-C3B2-416F-B493-D5EF17F60F5A}" dt="2026-09-08T15:56:44.249" v="2514" actId="1037"/>
          <ac:grpSpMkLst>
            <pc:docMk/>
            <pc:sldMk cId="1338981590" sldId="291"/>
            <ac:grpSpMk id="13" creationId="{F967B2F8-3066-5A2C-0BB2-A19EB1C2AD54}"/>
          </ac:grpSpMkLst>
        </pc:grpChg>
        <pc:grpChg chg="add mod">
          <ac:chgData name="Goodman, Dan" userId="3856083d-7deb-434e-baee-35426c02f58e" providerId="ADAL" clId="{C97C92AB-C3B2-416F-B493-D5EF17F60F5A}" dt="2026-09-08T15:56:44.249" v="2514" actId="1037"/>
          <ac:grpSpMkLst>
            <pc:docMk/>
            <pc:sldMk cId="1338981590" sldId="291"/>
            <ac:grpSpMk id="14" creationId="{68755CDF-1A46-C7D9-4436-A9DCF9A0738C}"/>
          </ac:grpSpMkLst>
        </pc:grpChg>
        <pc:grpChg chg="add mod">
          <ac:chgData name="Goodman, Dan" userId="3856083d-7deb-434e-baee-35426c02f58e" providerId="ADAL" clId="{C97C92AB-C3B2-416F-B493-D5EF17F60F5A}" dt="2026-09-08T15:56:44.249" v="2514" actId="1037"/>
          <ac:grpSpMkLst>
            <pc:docMk/>
            <pc:sldMk cId="1338981590" sldId="291"/>
            <ac:grpSpMk id="15" creationId="{4A7CA370-FF3D-3693-6E84-80EB2F5708D4}"/>
          </ac:grpSpMkLst>
        </pc:grpChg>
        <pc:picChg chg="add mod">
          <ac:chgData name="Goodman, Dan" userId="3856083d-7deb-434e-baee-35426c02f58e" providerId="ADAL" clId="{C97C92AB-C3B2-416F-B493-D5EF17F60F5A}" dt="2026-09-08T15:56:28.480" v="2482" actId="164"/>
          <ac:picMkLst>
            <pc:docMk/>
            <pc:sldMk cId="1338981590" sldId="291"/>
            <ac:picMk id="4" creationId="{E93DA17A-1BFB-7BF6-22CF-A48142EB1B79}"/>
          </ac:picMkLst>
        </pc:picChg>
        <pc:picChg chg="add mod">
          <ac:chgData name="Goodman, Dan" userId="3856083d-7deb-434e-baee-35426c02f58e" providerId="ADAL" clId="{C97C92AB-C3B2-416F-B493-D5EF17F60F5A}" dt="2026-09-08T15:56:31.676" v="2483" actId="164"/>
          <ac:picMkLst>
            <pc:docMk/>
            <pc:sldMk cId="1338981590" sldId="291"/>
            <ac:picMk id="6" creationId="{DFD22AB7-684B-8B68-DD53-099201D53F0C}"/>
          </ac:picMkLst>
        </pc:picChg>
        <pc:picChg chg="add mod">
          <ac:chgData name="Goodman, Dan" userId="3856083d-7deb-434e-baee-35426c02f58e" providerId="ADAL" clId="{C97C92AB-C3B2-416F-B493-D5EF17F60F5A}" dt="2026-09-08T15:56:35.777" v="2484" actId="164"/>
          <ac:picMkLst>
            <pc:docMk/>
            <pc:sldMk cId="1338981590" sldId="291"/>
            <ac:picMk id="8" creationId="{938028D0-9E38-F9FA-1E0E-B7877F5AA2D9}"/>
          </ac:picMkLst>
        </pc:picChg>
      </pc:sldChg>
      <pc:sldChg chg="modSp add mod addAnim delAnim modAnim">
        <pc:chgData name="Goodman, Dan" userId="3856083d-7deb-434e-baee-35426c02f58e" providerId="ADAL" clId="{C97C92AB-C3B2-416F-B493-D5EF17F60F5A}" dt="2026-09-08T16:29:46.431" v="3393"/>
        <pc:sldMkLst>
          <pc:docMk/>
          <pc:sldMk cId="990554585" sldId="292"/>
        </pc:sldMkLst>
        <pc:spChg chg="mod">
          <ac:chgData name="Goodman, Dan" userId="3856083d-7deb-434e-baee-35426c02f58e" providerId="ADAL" clId="{C97C92AB-C3B2-416F-B493-D5EF17F60F5A}" dt="2026-09-08T15:57:21.091" v="2567"/>
          <ac:spMkLst>
            <pc:docMk/>
            <pc:sldMk cId="990554585" sldId="292"/>
            <ac:spMk id="2" creationId="{AE8190E8-6EA1-90DD-A9F2-E59F58178046}"/>
          </ac:spMkLst>
        </pc:spChg>
        <pc:spChg chg="mod">
          <ac:chgData name="Goodman, Dan" userId="3856083d-7deb-434e-baee-35426c02f58e" providerId="ADAL" clId="{C97C92AB-C3B2-416F-B493-D5EF17F60F5A}" dt="2026-09-08T16:00:27.880" v="3024" actId="20577"/>
          <ac:spMkLst>
            <pc:docMk/>
            <pc:sldMk cId="990554585" sldId="292"/>
            <ac:spMk id="3" creationId="{EA74424A-72FE-485F-6CD7-423AE09B8373}"/>
          </ac:spMkLst>
        </pc:spChg>
      </pc:sldChg>
      <pc:sldChg chg="add del setBg">
        <pc:chgData name="Goodman, Dan" userId="3856083d-7deb-434e-baee-35426c02f58e" providerId="ADAL" clId="{C97C92AB-C3B2-416F-B493-D5EF17F60F5A}" dt="2026-09-08T16:08:45.547" v="3027"/>
        <pc:sldMkLst>
          <pc:docMk/>
          <pc:sldMk cId="3483791899" sldId="328"/>
        </pc:sldMkLst>
      </pc:sldChg>
      <pc:sldChg chg="delSp modSp add del mod setBg">
        <pc:chgData name="Goodman, Dan" userId="3856083d-7deb-434e-baee-35426c02f58e" providerId="ADAL" clId="{C97C92AB-C3B2-416F-B493-D5EF17F60F5A}" dt="2026-09-10T09:21:59.414" v="3394"/>
        <pc:sldMkLst>
          <pc:docMk/>
          <pc:sldMk cId="1023418407" sldId="333"/>
        </pc:sldMkLst>
        <pc:spChg chg="mod">
          <ac:chgData name="Goodman, Dan" userId="3856083d-7deb-434e-baee-35426c02f58e" providerId="ADAL" clId="{C97C92AB-C3B2-416F-B493-D5EF17F60F5A}" dt="2026-09-08T16:15:53.610" v="3069" actId="255"/>
          <ac:spMkLst>
            <pc:docMk/>
            <pc:sldMk cId="1023418407" sldId="333"/>
            <ac:spMk id="2" creationId="{935B3E68-28D0-7A51-A02C-65BB71D6A395}"/>
          </ac:spMkLst>
        </pc:spChg>
        <pc:spChg chg="mod">
          <ac:chgData name="Goodman, Dan" userId="3856083d-7deb-434e-baee-35426c02f58e" providerId="ADAL" clId="{C97C92AB-C3B2-416F-B493-D5EF17F60F5A}" dt="2026-09-10T09:21:59.414" v="3394"/>
          <ac:spMkLst>
            <pc:docMk/>
            <pc:sldMk cId="1023418407" sldId="333"/>
            <ac:spMk id="5" creationId="{38852850-A541-8B4D-3BD6-97798B4BC25B}"/>
          </ac:spMkLst>
        </pc:spChg>
      </pc:sldChg>
      <pc:sldChg chg="modSp add del mod setBg">
        <pc:chgData name="Goodman, Dan" userId="3856083d-7deb-434e-baee-35426c02f58e" providerId="ADAL" clId="{C97C92AB-C3B2-416F-B493-D5EF17F60F5A}" dt="2026-09-08T16:17:01.099" v="3194" actId="1076"/>
        <pc:sldMkLst>
          <pc:docMk/>
          <pc:sldMk cId="957464126" sldId="335"/>
        </pc:sldMkLst>
        <pc:spChg chg="mod">
          <ac:chgData name="Goodman, Dan" userId="3856083d-7deb-434e-baee-35426c02f58e" providerId="ADAL" clId="{C97C92AB-C3B2-416F-B493-D5EF17F60F5A}" dt="2026-09-08T16:17:01.099" v="3194" actId="1076"/>
          <ac:spMkLst>
            <pc:docMk/>
            <pc:sldMk cId="957464126" sldId="335"/>
            <ac:spMk id="2" creationId="{C0DD1397-213E-1586-7680-425C8AAEB0D9}"/>
          </ac:spMkLst>
        </pc:spChg>
      </pc:sldChg>
      <pc:sldChg chg="addSp delSp modSp new mod modAnim">
        <pc:chgData name="Goodman, Dan" userId="3856083d-7deb-434e-baee-35426c02f58e" providerId="ADAL" clId="{C97C92AB-C3B2-416F-B493-D5EF17F60F5A}" dt="2026-09-08T16:28:17.203" v="3375"/>
        <pc:sldMkLst>
          <pc:docMk/>
          <pc:sldMk cId="3545811885" sldId="336"/>
        </pc:sldMkLst>
        <pc:spChg chg="mod">
          <ac:chgData name="Goodman, Dan" userId="3856083d-7deb-434e-baee-35426c02f58e" providerId="ADAL" clId="{C97C92AB-C3B2-416F-B493-D5EF17F60F5A}" dt="2026-09-08T16:27:50.725" v="3372" actId="122"/>
          <ac:spMkLst>
            <pc:docMk/>
            <pc:sldMk cId="3545811885" sldId="336"/>
            <ac:spMk id="2" creationId="{5BE365A8-6D2D-B3E8-897F-13660F86F75C}"/>
          </ac:spMkLst>
        </pc:spChg>
        <pc:spChg chg="mod topLvl">
          <ac:chgData name="Goodman, Dan" userId="3856083d-7deb-434e-baee-35426c02f58e" providerId="ADAL" clId="{C97C92AB-C3B2-416F-B493-D5EF17F60F5A}" dt="2026-09-08T16:20:46.464" v="3250" actId="1076"/>
          <ac:spMkLst>
            <pc:docMk/>
            <pc:sldMk cId="3545811885" sldId="336"/>
            <ac:spMk id="7" creationId="{37623BC5-B838-F08B-D970-B4BA290AF306}"/>
          </ac:spMkLst>
        </pc:spChg>
        <pc:spChg chg="mod topLvl">
          <ac:chgData name="Goodman, Dan" userId="3856083d-7deb-434e-baee-35426c02f58e" providerId="ADAL" clId="{C97C92AB-C3B2-416F-B493-D5EF17F60F5A}" dt="2026-09-08T16:20:46.464" v="3250" actId="1076"/>
          <ac:spMkLst>
            <pc:docMk/>
            <pc:sldMk cId="3545811885" sldId="336"/>
            <ac:spMk id="8" creationId="{691C86DD-F012-00A7-69B7-71227F25F358}"/>
          </ac:spMkLst>
        </pc:spChg>
        <pc:spChg chg="add mod">
          <ac:chgData name="Goodman, Dan" userId="3856083d-7deb-434e-baee-35426c02f58e" providerId="ADAL" clId="{C97C92AB-C3B2-416F-B493-D5EF17F60F5A}" dt="2026-09-08T16:27:04.993" v="3366" actId="1076"/>
          <ac:spMkLst>
            <pc:docMk/>
            <pc:sldMk cId="3545811885" sldId="336"/>
            <ac:spMk id="11" creationId="{EE6A7F7F-8C0F-9944-2045-1EE5E7AF0156}"/>
          </ac:spMkLst>
        </pc:spChg>
        <pc:spChg chg="mod">
          <ac:chgData name="Goodman, Dan" userId="3856083d-7deb-434e-baee-35426c02f58e" providerId="ADAL" clId="{C97C92AB-C3B2-416F-B493-D5EF17F60F5A}" dt="2026-09-08T16:20:53.422" v="3251"/>
          <ac:spMkLst>
            <pc:docMk/>
            <pc:sldMk cId="3545811885" sldId="336"/>
            <ac:spMk id="14" creationId="{955469F2-582E-CA2C-DCE5-3C4485E1BECF}"/>
          </ac:spMkLst>
        </pc:spChg>
        <pc:spChg chg="mod">
          <ac:chgData name="Goodman, Dan" userId="3856083d-7deb-434e-baee-35426c02f58e" providerId="ADAL" clId="{C97C92AB-C3B2-416F-B493-D5EF17F60F5A}" dt="2026-09-08T16:20:53.422" v="3251"/>
          <ac:spMkLst>
            <pc:docMk/>
            <pc:sldMk cId="3545811885" sldId="336"/>
            <ac:spMk id="17" creationId="{5A4FE9C0-F062-6EC8-DB93-6398C1601408}"/>
          </ac:spMkLst>
        </pc:spChg>
        <pc:spChg chg="mod">
          <ac:chgData name="Goodman, Dan" userId="3856083d-7deb-434e-baee-35426c02f58e" providerId="ADAL" clId="{C97C92AB-C3B2-416F-B493-D5EF17F60F5A}" dt="2026-09-08T16:20:53.422" v="3251"/>
          <ac:spMkLst>
            <pc:docMk/>
            <pc:sldMk cId="3545811885" sldId="336"/>
            <ac:spMk id="20" creationId="{F2C1C66E-EF2D-D591-AF27-D2B7535088B6}"/>
          </ac:spMkLst>
        </pc:spChg>
        <pc:spChg chg="add mod">
          <ac:chgData name="Goodman, Dan" userId="3856083d-7deb-434e-baee-35426c02f58e" providerId="ADAL" clId="{C97C92AB-C3B2-416F-B493-D5EF17F60F5A}" dt="2026-09-08T16:22:07.273" v="3262" actId="1076"/>
          <ac:spMkLst>
            <pc:docMk/>
            <pc:sldMk cId="3545811885" sldId="336"/>
            <ac:spMk id="24" creationId="{6BCCAB0F-CCEF-42DB-70CF-550F0576A273}"/>
          </ac:spMkLst>
        </pc:spChg>
        <pc:spChg chg="add mod">
          <ac:chgData name="Goodman, Dan" userId="3856083d-7deb-434e-baee-35426c02f58e" providerId="ADAL" clId="{C97C92AB-C3B2-416F-B493-D5EF17F60F5A}" dt="2026-09-08T16:28:17.203" v="3375"/>
          <ac:spMkLst>
            <pc:docMk/>
            <pc:sldMk cId="3545811885" sldId="336"/>
            <ac:spMk id="25" creationId="{50F0037B-9601-DA1A-54B2-4EE8050B5DD6}"/>
          </ac:spMkLst>
        </pc:spChg>
        <pc:grpChg chg="add mod">
          <ac:chgData name="Goodman, Dan" userId="3856083d-7deb-434e-baee-35426c02f58e" providerId="ADAL" clId="{C97C92AB-C3B2-416F-B493-D5EF17F60F5A}" dt="2026-09-08T16:27:18.031" v="3369" actId="1076"/>
          <ac:grpSpMkLst>
            <pc:docMk/>
            <pc:sldMk cId="3545811885" sldId="336"/>
            <ac:grpSpMk id="12" creationId="{1B7E2FF9-1825-4C8A-E7AD-C318DC4A70B6}"/>
          </ac:grpSpMkLst>
        </pc:grpChg>
        <pc:grpChg chg="add mod">
          <ac:chgData name="Goodman, Dan" userId="3856083d-7deb-434e-baee-35426c02f58e" providerId="ADAL" clId="{C97C92AB-C3B2-416F-B493-D5EF17F60F5A}" dt="2026-09-08T16:27:30.402" v="3370" actId="1076"/>
          <ac:grpSpMkLst>
            <pc:docMk/>
            <pc:sldMk cId="3545811885" sldId="336"/>
            <ac:grpSpMk id="15" creationId="{0EE68E76-94D6-5378-A3C1-112BEAE17065}"/>
          </ac:grpSpMkLst>
        </pc:grpChg>
        <pc:grpChg chg="add mod">
          <ac:chgData name="Goodman, Dan" userId="3856083d-7deb-434e-baee-35426c02f58e" providerId="ADAL" clId="{C97C92AB-C3B2-416F-B493-D5EF17F60F5A}" dt="2026-09-08T16:27:18.031" v="3369" actId="1076"/>
          <ac:grpSpMkLst>
            <pc:docMk/>
            <pc:sldMk cId="3545811885" sldId="336"/>
            <ac:grpSpMk id="18" creationId="{A96ECC32-9328-6934-97A1-B1715A9909AF}"/>
          </ac:grpSpMkLst>
        </pc:grpChg>
        <pc:picChg chg="mod topLvl">
          <ac:chgData name="Goodman, Dan" userId="3856083d-7deb-434e-baee-35426c02f58e" providerId="ADAL" clId="{C97C92AB-C3B2-416F-B493-D5EF17F60F5A}" dt="2026-09-08T16:20:46.464" v="3250" actId="1076"/>
          <ac:picMkLst>
            <pc:docMk/>
            <pc:sldMk cId="3545811885" sldId="336"/>
            <ac:picMk id="5" creationId="{4F40B770-27E7-89EA-0173-3150B572C20E}"/>
          </ac:picMkLst>
        </pc:picChg>
        <pc:picChg chg="mod topLvl">
          <ac:chgData name="Goodman, Dan" userId="3856083d-7deb-434e-baee-35426c02f58e" providerId="ADAL" clId="{C97C92AB-C3B2-416F-B493-D5EF17F60F5A}" dt="2026-09-08T16:20:46.464" v="3250" actId="1076"/>
          <ac:picMkLst>
            <pc:docMk/>
            <pc:sldMk cId="3545811885" sldId="336"/>
            <ac:picMk id="6" creationId="{8F9B698B-290D-3A6E-9DC0-5634B5549FC9}"/>
          </ac:picMkLst>
        </pc:picChg>
        <pc:picChg chg="add mod">
          <ac:chgData name="Goodman, Dan" userId="3856083d-7deb-434e-baee-35426c02f58e" providerId="ADAL" clId="{C97C92AB-C3B2-416F-B493-D5EF17F60F5A}" dt="2026-09-08T16:27:04.993" v="3366" actId="1076"/>
          <ac:picMkLst>
            <pc:docMk/>
            <pc:sldMk cId="3545811885" sldId="336"/>
            <ac:picMk id="9" creationId="{4401C80B-B618-466C-FAE9-51E56504A238}"/>
          </ac:picMkLst>
        </pc:picChg>
        <pc:picChg chg="mod">
          <ac:chgData name="Goodman, Dan" userId="3856083d-7deb-434e-baee-35426c02f58e" providerId="ADAL" clId="{C97C92AB-C3B2-416F-B493-D5EF17F60F5A}" dt="2026-09-08T16:20:53.422" v="3251"/>
          <ac:picMkLst>
            <pc:docMk/>
            <pc:sldMk cId="3545811885" sldId="336"/>
            <ac:picMk id="13" creationId="{40165573-263A-113C-8A4A-BD9EE4AE28EA}"/>
          </ac:picMkLst>
        </pc:picChg>
        <pc:picChg chg="mod">
          <ac:chgData name="Goodman, Dan" userId="3856083d-7deb-434e-baee-35426c02f58e" providerId="ADAL" clId="{C97C92AB-C3B2-416F-B493-D5EF17F60F5A}" dt="2026-09-08T16:20:53.422" v="3251"/>
          <ac:picMkLst>
            <pc:docMk/>
            <pc:sldMk cId="3545811885" sldId="336"/>
            <ac:picMk id="16" creationId="{439BA49A-6AA7-4F09-EA08-4AABF7BF09C7}"/>
          </ac:picMkLst>
        </pc:picChg>
        <pc:picChg chg="mod">
          <ac:chgData name="Goodman, Dan" userId="3856083d-7deb-434e-baee-35426c02f58e" providerId="ADAL" clId="{C97C92AB-C3B2-416F-B493-D5EF17F60F5A}" dt="2026-09-08T16:20:53.422" v="3251"/>
          <ac:picMkLst>
            <pc:docMk/>
            <pc:sldMk cId="3545811885" sldId="336"/>
            <ac:picMk id="19" creationId="{DE0C8D87-0BF6-234B-4A43-EC322E0CE825}"/>
          </ac:picMkLst>
        </pc:picChg>
        <pc:picChg chg="add mod">
          <ac:chgData name="Goodman, Dan" userId="3856083d-7deb-434e-baee-35426c02f58e" providerId="ADAL" clId="{C97C92AB-C3B2-416F-B493-D5EF17F60F5A}" dt="2026-09-08T16:21:59.168" v="3261" actId="1076"/>
          <ac:picMkLst>
            <pc:docMk/>
            <pc:sldMk cId="3545811885" sldId="336"/>
            <ac:picMk id="22" creationId="{D63AE32B-4579-A36B-FEBC-8376374315A2}"/>
          </ac:picMkLst>
        </pc:picChg>
      </pc:sldChg>
    </pc:docChg>
  </pc:docChgLst>
  <pc:docChgLst>
    <pc:chgData name="Goodman, Dan" userId="3856083d-7deb-434e-baee-35426c02f58e" providerId="ADAL" clId="{6CA0AD20-ACA0-437E-B0BB-1AEF1DB2AC9B}"/>
    <pc:docChg chg="delSld modSld sldOrd">
      <pc:chgData name="Goodman, Dan" userId="3856083d-7deb-434e-baee-35426c02f58e" providerId="ADAL" clId="{6CA0AD20-ACA0-437E-B0BB-1AEF1DB2AC9B}" dt="2026-09-10T15:03:46.072" v="2"/>
      <pc:docMkLst>
        <pc:docMk/>
      </pc:docMkLst>
      <pc:sldChg chg="del">
        <pc:chgData name="Goodman, Dan" userId="3856083d-7deb-434e-baee-35426c02f58e" providerId="ADAL" clId="{6CA0AD20-ACA0-437E-B0BB-1AEF1DB2AC9B}" dt="2026-09-10T15:03:38.730" v="0" actId="47"/>
        <pc:sldMkLst>
          <pc:docMk/>
          <pc:sldMk cId="565903231" sldId="329"/>
        </pc:sldMkLst>
      </pc:sldChg>
      <pc:sldChg chg="ord">
        <pc:chgData name="Goodman, Dan" userId="3856083d-7deb-434e-baee-35426c02f58e" providerId="ADAL" clId="{6CA0AD20-ACA0-437E-B0BB-1AEF1DB2AC9B}" dt="2026-09-10T15:03:46.072" v="2"/>
        <pc:sldMkLst>
          <pc:docMk/>
          <pc:sldMk cId="957464126" sldId="33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AE6EB4-03A3-4C4A-B5B5-FE282E964C74}" type="datetimeFigureOut">
              <a:rPr lang="en-GB" smtClean="0"/>
              <a:t>10/09/2026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DC7791-BCCC-4DAF-AEA8-66EE27DE672F}" type="slidenum">
              <a:rPr lang="en-GB" smtClean="0"/>
              <a:t>‹#›</a:t>
            </a:fld>
            <a:endParaRPr lang="en-GB"/>
          </a:p>
        </p:txBody>
      </p:sp>
    </p:spTree>
    <p:extLst>
      <p:ext uri="{BB962C8B-B14F-4D97-AF65-F5344CB8AC3E}">
        <p14:creationId xmlns:p14="http://schemas.microsoft.com/office/powerpoint/2010/main" val="863412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869D1F-43B8-4163-93C4-5C39D20FD70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44976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0DC7791-BCCC-4DAF-AEA8-66EE27DE672F}" type="slidenum">
              <a:rPr lang="en-GB" smtClean="0"/>
              <a:t>2</a:t>
            </a:fld>
            <a:endParaRPr lang="en-GB"/>
          </a:p>
        </p:txBody>
      </p:sp>
    </p:spTree>
    <p:extLst>
      <p:ext uri="{BB962C8B-B14F-4D97-AF65-F5344CB8AC3E}">
        <p14:creationId xmlns:p14="http://schemas.microsoft.com/office/powerpoint/2010/main" val="41855158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dirty="0"/>
              <a:t>Question of this talk is why is the brain so heterogeneous?</a:t>
            </a:r>
          </a:p>
          <a:p>
            <a:pPr marL="0" indent="0">
              <a:buFont typeface="Arial" panose="020B0604020202020204" pitchFamily="34" charset="0"/>
              <a:buNone/>
            </a:pPr>
            <a:r>
              <a:rPr lang="en-GB" dirty="0"/>
              <a:t>When you look at some randomly selected neurons you see huge differences.</a:t>
            </a:r>
          </a:p>
          <a:p>
            <a:pPr marL="0" indent="0">
              <a:buFont typeface="Arial" panose="020B0604020202020204" pitchFamily="34" charset="0"/>
              <a:buNone/>
            </a:pPr>
            <a:r>
              <a:rPr lang="en-GB" dirty="0"/>
              <a:t>Is it just a quirk of its evolutionary history or developmental noise?</a:t>
            </a:r>
          </a:p>
          <a:p>
            <a:pPr marL="0" indent="0">
              <a:buFont typeface="Arial" panose="020B0604020202020204" pitchFamily="34" charset="0"/>
              <a:buNone/>
            </a:pPr>
            <a:r>
              <a:rPr lang="en-GB" dirty="0"/>
              <a:t>Or does it play some important role?</a:t>
            </a:r>
          </a:p>
          <a:p>
            <a:pPr marL="0" indent="0">
              <a:buFont typeface="Arial" panose="020B0604020202020204" pitchFamily="34" charset="0"/>
              <a:buNone/>
            </a:pPr>
            <a:r>
              <a:rPr lang="en-GB" dirty="0"/>
              <a:t>By contrast, most of our models, and particularly the models that are able to actually perform complex tasks, use entirely undifferentiated neurons.</a:t>
            </a:r>
          </a:p>
        </p:txBody>
      </p:sp>
      <p:sp>
        <p:nvSpPr>
          <p:cNvPr id="4" name="Slide Number Placeholder 3"/>
          <p:cNvSpPr>
            <a:spLocks noGrp="1"/>
          </p:cNvSpPr>
          <p:nvPr>
            <p:ph type="sldNum" sz="quarter" idx="5"/>
          </p:nvPr>
        </p:nvSpPr>
        <p:spPr/>
        <p:txBody>
          <a:bodyPr/>
          <a:lstStyle/>
          <a:p>
            <a:fld id="{54810F1E-5889-4C13-843C-6DB2FE0090A8}" type="slidenum">
              <a:rPr lang="en-GB" smtClean="0"/>
              <a:t>4</a:t>
            </a:fld>
            <a:endParaRPr lang="en-GB"/>
          </a:p>
        </p:txBody>
      </p:sp>
    </p:spTree>
    <p:extLst>
      <p:ext uri="{BB962C8B-B14F-4D97-AF65-F5344CB8AC3E}">
        <p14:creationId xmlns:p14="http://schemas.microsoft.com/office/powerpoint/2010/main" val="3500368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All our tasks were classification of patterns of input spike trains using spiking neural networks.</a:t>
            </a:r>
          </a:p>
          <a:p>
            <a:r>
              <a:rPr lang="en-GB" dirty="0"/>
              <a:t>…</a:t>
            </a:r>
          </a:p>
          <a:p>
            <a:r>
              <a:rPr lang="en-GB" dirty="0"/>
              <a:t>In other words, this is just about the simplest possible architecture that could feasibly do the job.</a:t>
            </a:r>
          </a:p>
          <a:p>
            <a:r>
              <a:rPr lang="en-GB" dirty="0"/>
              <a:t>We’re not aiming at winning on machine learning benchmarks, but rather on finding out what the advantages of heterogeneity specifically could be.</a:t>
            </a:r>
          </a:p>
        </p:txBody>
      </p:sp>
      <p:sp>
        <p:nvSpPr>
          <p:cNvPr id="4" name="Slide Number Placeholder 3"/>
          <p:cNvSpPr>
            <a:spLocks noGrp="1"/>
          </p:cNvSpPr>
          <p:nvPr>
            <p:ph type="sldNum" sz="quarter" idx="5"/>
          </p:nvPr>
        </p:nvSpPr>
        <p:spPr/>
        <p:txBody>
          <a:bodyPr/>
          <a:lstStyle/>
          <a:p>
            <a:fld id="{54810F1E-5889-4C13-843C-6DB2FE0090A8}" type="slidenum">
              <a:rPr lang="en-GB" smtClean="0"/>
              <a:t>5</a:t>
            </a:fld>
            <a:endParaRPr lang="en-GB"/>
          </a:p>
        </p:txBody>
      </p:sp>
    </p:spTree>
    <p:extLst>
      <p:ext uri="{BB962C8B-B14F-4D97-AF65-F5344CB8AC3E}">
        <p14:creationId xmlns:p14="http://schemas.microsoft.com/office/powerpoint/2010/main" val="2596063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looked at four conditions. In every condition, the synaptic weights can be learned.</a:t>
            </a:r>
          </a:p>
          <a:p>
            <a:r>
              <a:rPr lang="en-GB" dirty="0"/>
              <a:t>In the first condition, it is fully homogeneous. Time constants are the same for all neurons, cannot be learned during training.</a:t>
            </a:r>
          </a:p>
          <a:p>
            <a:r>
              <a:rPr lang="en-GB" dirty="0">
                <a:solidFill>
                  <a:schemeClr val="accent2"/>
                </a:solidFill>
              </a:rPr>
              <a:t>The next one (orange)</a:t>
            </a:r>
            <a:r>
              <a:rPr lang="en-GB" dirty="0"/>
              <a:t> is where time constants are randomly initialised for each neuron, but can’t change with training.</a:t>
            </a:r>
          </a:p>
          <a:p>
            <a:r>
              <a:rPr lang="en-GB" dirty="0"/>
              <a:t>Then, we consider both of these two conditions but allowing the training procedure to modify the time constants.</a:t>
            </a:r>
          </a:p>
          <a:p>
            <a:r>
              <a:rPr lang="en-GB" dirty="0"/>
              <a:t>--- follow text on RHS ---</a:t>
            </a:r>
          </a:p>
        </p:txBody>
      </p:sp>
      <p:sp>
        <p:nvSpPr>
          <p:cNvPr id="4" name="Slide Number Placeholder 3"/>
          <p:cNvSpPr>
            <a:spLocks noGrp="1"/>
          </p:cNvSpPr>
          <p:nvPr>
            <p:ph type="sldNum" sz="quarter" idx="5"/>
          </p:nvPr>
        </p:nvSpPr>
        <p:spPr/>
        <p:txBody>
          <a:bodyPr/>
          <a:lstStyle/>
          <a:p>
            <a:fld id="{54810F1E-5889-4C13-843C-6DB2FE0090A8}" type="slidenum">
              <a:rPr lang="en-GB" smtClean="0"/>
              <a:t>6</a:t>
            </a:fld>
            <a:endParaRPr lang="en-GB"/>
          </a:p>
        </p:txBody>
      </p:sp>
    </p:spTree>
    <p:extLst>
      <p:ext uri="{BB962C8B-B14F-4D97-AF65-F5344CB8AC3E}">
        <p14:creationId xmlns:p14="http://schemas.microsoft.com/office/powerpoint/2010/main" val="1433348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Trained on 5 tasks of increasing temporal structure and difficulty.</a:t>
            </a:r>
          </a:p>
          <a:p>
            <a:r>
              <a:rPr lang="en-GB" dirty="0"/>
              <a:t>N-MNIST is standard MNIST handwritten digits presented to a DVS (dynamic vision sensor), or event camera. It emits a ‘spike’ when the brightness of a pixel changes. In N-MNIST they moved the camera across the screen simulating saccades, so there’s temporal structure in the spike trains but not in the underlying stimulus.</a:t>
            </a:r>
          </a:p>
          <a:p>
            <a:r>
              <a:rPr lang="en-GB" dirty="0"/>
              <a:t>F-MNIST is fashion MNIST, little pictures of clothes and bags. Convert to spike trains by treating pixel intensities as a current into an integrate and fire neuron, so neurons corresponding to brighter pixels fire earlier. Has temporal structure, but again not in the underlying stimulus.</a:t>
            </a:r>
          </a:p>
          <a:p>
            <a:r>
              <a:rPr lang="en-GB" dirty="0"/>
              <a:t>DVS128 is gestures like hand waving in front of an event camera, and is the first one where the underlying stimulus has temporal structure. However, it’s sufficiently small that it’s often possible to guess the gesture by just taking an average.</a:t>
            </a:r>
          </a:p>
          <a:p>
            <a:r>
              <a:rPr lang="en-GB" dirty="0"/>
              <a:t>We also have two auditory tasks where temporal structure is more important. SHD is “spiking Heidelberg digits” and is the auditory equivalent of MNIST, while SSC is spiking speech commands, like go, stop, etc.</a:t>
            </a:r>
          </a:p>
        </p:txBody>
      </p:sp>
      <p:sp>
        <p:nvSpPr>
          <p:cNvPr id="4" name="Slide Number Placeholder 3"/>
          <p:cNvSpPr>
            <a:spLocks noGrp="1"/>
          </p:cNvSpPr>
          <p:nvPr>
            <p:ph type="sldNum" sz="quarter" idx="5"/>
          </p:nvPr>
        </p:nvSpPr>
        <p:spPr/>
        <p:txBody>
          <a:bodyPr/>
          <a:lstStyle/>
          <a:p>
            <a:fld id="{54810F1E-5889-4C13-843C-6DB2FE0090A8}" type="slidenum">
              <a:rPr lang="en-GB" smtClean="0"/>
              <a:t>7</a:t>
            </a:fld>
            <a:endParaRPr lang="en-GB"/>
          </a:p>
        </p:txBody>
      </p:sp>
    </p:spTree>
    <p:extLst>
      <p:ext uri="{BB962C8B-B14F-4D97-AF65-F5344CB8AC3E}">
        <p14:creationId xmlns:p14="http://schemas.microsoft.com/office/powerpoint/2010/main" val="22560529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Top line is the baseline, fully homogeneous network. You have the colour key down here.</a:t>
            </a:r>
          </a:p>
          <a:p>
            <a:r>
              <a:rPr lang="en-GB" dirty="0"/>
              <a:t>N-MNIST: no improvement with heterogeneity.</a:t>
            </a:r>
          </a:p>
          <a:p>
            <a:r>
              <a:rPr lang="en-GB" dirty="0"/>
              <a:t>F-MNIST: you have some improvement but it’s not consistent. Most likely explanation for this is that heterogeneous initialisation helps it not get stuck in a local minimum.</a:t>
            </a:r>
          </a:p>
          <a:p>
            <a:r>
              <a:rPr lang="en-GB" dirty="0"/>
              <a:t>DVS128: consistent improvements with heterogeneity added, but not huge.</a:t>
            </a:r>
          </a:p>
          <a:p>
            <a:r>
              <a:rPr lang="en-GB" dirty="0"/>
              <a:t>SHD and SSC: big improvements with heterogeneity, improvements of around 10% in accuracy for SHD and SSC, which is pretty substantial when you consider the chance level is around 5 and 3%.</a:t>
            </a:r>
          </a:p>
          <a:p>
            <a:r>
              <a:rPr lang="en-GB" dirty="0"/>
              <a:t>You can also see the improvement in test accuracy here.</a:t>
            </a:r>
          </a:p>
        </p:txBody>
      </p:sp>
      <p:sp>
        <p:nvSpPr>
          <p:cNvPr id="4" name="Slide Number Placeholder 3"/>
          <p:cNvSpPr>
            <a:spLocks noGrp="1"/>
          </p:cNvSpPr>
          <p:nvPr>
            <p:ph type="sldNum" sz="quarter" idx="5"/>
          </p:nvPr>
        </p:nvSpPr>
        <p:spPr/>
        <p:txBody>
          <a:bodyPr/>
          <a:lstStyle/>
          <a:p>
            <a:fld id="{54810F1E-5889-4C13-843C-6DB2FE0090A8}" type="slidenum">
              <a:rPr lang="en-GB" smtClean="0"/>
              <a:t>8</a:t>
            </a:fld>
            <a:endParaRPr lang="en-GB"/>
          </a:p>
        </p:txBody>
      </p:sp>
    </p:spTree>
    <p:extLst>
      <p:ext uri="{BB962C8B-B14F-4D97-AF65-F5344CB8AC3E}">
        <p14:creationId xmlns:p14="http://schemas.microsoft.com/office/powerpoint/2010/main" val="14870479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 the left are the distributions before training, and in the middle after training.</a:t>
            </a:r>
          </a:p>
          <a:p>
            <a:r>
              <a:rPr lang="en-GB" dirty="0"/>
              <a:t>At the top are the cases where the initial distribution is heterogeneous, and the bottom where all time constants start the same.</a:t>
            </a:r>
          </a:p>
          <a:p>
            <a:r>
              <a:rPr lang="en-GB" dirty="0"/>
              <a:t>First result here is that regardless of whether or not you start homogeneous or heterogeneous, you end up with pretty much the same distribution, except in the case of DVS128 suggesting that there may be a few minima in this case.</a:t>
            </a:r>
          </a:p>
          <a:p>
            <a:r>
              <a:rPr lang="en-GB" dirty="0"/>
              <a:t>The key result though is that these distributions really look similar to what you see when you plot experimentally observed distributions.</a:t>
            </a:r>
          </a:p>
          <a:p>
            <a:r>
              <a:rPr lang="en-GB" dirty="0"/>
              <a:t>This is only possible thanks to some amazing datasets that have been made available lately.</a:t>
            </a:r>
          </a:p>
          <a:p>
            <a:r>
              <a:rPr lang="en-GB" dirty="0"/>
              <a:t>The distributions have different parameters depending on cell type, area and species, but always look more or less the same.</a:t>
            </a:r>
          </a:p>
        </p:txBody>
      </p:sp>
      <p:sp>
        <p:nvSpPr>
          <p:cNvPr id="4" name="Slide Number Placeholder 3"/>
          <p:cNvSpPr>
            <a:spLocks noGrp="1"/>
          </p:cNvSpPr>
          <p:nvPr>
            <p:ph type="sldNum" sz="quarter" idx="5"/>
          </p:nvPr>
        </p:nvSpPr>
        <p:spPr/>
        <p:txBody>
          <a:bodyPr/>
          <a:lstStyle/>
          <a:p>
            <a:fld id="{54810F1E-5889-4C13-843C-6DB2FE0090A8}" type="slidenum">
              <a:rPr lang="en-GB" smtClean="0"/>
              <a:t>9</a:t>
            </a:fld>
            <a:endParaRPr lang="en-GB"/>
          </a:p>
        </p:txBody>
      </p:sp>
    </p:spTree>
    <p:extLst>
      <p:ext uri="{BB962C8B-B14F-4D97-AF65-F5344CB8AC3E}">
        <p14:creationId xmlns:p14="http://schemas.microsoft.com/office/powerpoint/2010/main" val="513271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9F135-415E-DB40-E5DD-1D8E13CE7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3FEBB-44CC-94AD-4E6C-989E4E317C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25A36B-B490-E7E8-3C23-CFE7589221B9}"/>
              </a:ext>
            </a:extLst>
          </p:cNvPr>
          <p:cNvSpPr>
            <a:spLocks noGrp="1"/>
          </p:cNvSpPr>
          <p:nvPr>
            <p:ph type="body" idx="1"/>
          </p:nvPr>
        </p:nvSpPr>
        <p:spPr/>
        <p:txBody>
          <a:bodyPr/>
          <a:lstStyle/>
          <a:p>
            <a:pPr marL="0" lvl="0" indent="0">
              <a:buFont typeface="Arial" panose="020B0604020202020204" pitchFamily="34" charset="0"/>
              <a:buNone/>
            </a:pPr>
            <a:endParaRPr lang="en-GB" dirty="0"/>
          </a:p>
        </p:txBody>
      </p:sp>
      <p:sp>
        <p:nvSpPr>
          <p:cNvPr id="4" name="Slide Number Placeholder 3">
            <a:extLst>
              <a:ext uri="{FF2B5EF4-FFF2-40B4-BE49-F238E27FC236}">
                <a16:creationId xmlns:a16="http://schemas.microsoft.com/office/drawing/2014/main" id="{C265361C-7C68-EA84-2F43-4D7465D4F86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869D1F-43B8-4163-93C4-5C39D20FD70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60689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1538D-5ECE-B2F9-E863-07CE86FF5B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5F55D-3715-1983-BFCE-D0A4D207AA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BA85D0-C91C-ACE0-67FE-47834743A4D2}"/>
              </a:ext>
            </a:extLst>
          </p:cNvPr>
          <p:cNvSpPr>
            <a:spLocks noGrp="1"/>
          </p:cNvSpPr>
          <p:nvPr>
            <p:ph type="body" idx="1"/>
          </p:nvPr>
        </p:nvSpPr>
        <p:spPr/>
        <p:txBody>
          <a:bodyPr/>
          <a:lstStyle/>
          <a:p>
            <a:pPr marL="0" lvl="0" indent="0">
              <a:buFont typeface="Arial" panose="020B0604020202020204" pitchFamily="34" charset="0"/>
              <a:buNone/>
            </a:pPr>
            <a:endParaRPr lang="en-GB" dirty="0"/>
          </a:p>
        </p:txBody>
      </p:sp>
      <p:sp>
        <p:nvSpPr>
          <p:cNvPr id="4" name="Slide Number Placeholder 3">
            <a:extLst>
              <a:ext uri="{FF2B5EF4-FFF2-40B4-BE49-F238E27FC236}">
                <a16:creationId xmlns:a16="http://schemas.microsoft.com/office/drawing/2014/main" id="{4A756E4A-12BD-8AC3-250F-11446642F53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869D1F-43B8-4163-93C4-5C39D20FD701}"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94588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12192000" cy="3602038"/>
          </a:xfrm>
          <a:prstGeom prst="rect">
            <a:avLst/>
          </a:prstGeom>
          <a:solidFill>
            <a:srgbClr val="7B6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solidFill>
                <a:schemeClr val="bg1"/>
              </a:solidFill>
            </a:endParaRPr>
          </a:p>
        </p:txBody>
      </p:sp>
      <p:sp>
        <p:nvSpPr>
          <p:cNvPr id="2" name="Title 1"/>
          <p:cNvSpPr>
            <a:spLocks noGrp="1"/>
          </p:cNvSpPr>
          <p:nvPr>
            <p:ph type="ctrTitle"/>
          </p:nvPr>
        </p:nvSpPr>
        <p:spPr>
          <a:xfrm>
            <a:off x="914400" y="1122363"/>
            <a:ext cx="10363200" cy="2387600"/>
          </a:xfrm>
        </p:spPr>
        <p:txBody>
          <a:bodyPr anchor="b"/>
          <a:lstStyle>
            <a:lvl1pPr algn="ctr">
              <a:defRPr sz="60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524000" y="3733800"/>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97A08D-AAAD-4624-B12D-B2D2F6AF265E}" type="datetimeFigureOut">
              <a:rPr lang="en-GB" smtClean="0"/>
              <a:t>10/09/2026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21C33C1-B32F-4C66-A8A7-26891A6CFEBB}" type="slidenum">
              <a:rPr lang="en-GB" smtClean="0"/>
              <a:t>‹#›</a:t>
            </a:fld>
            <a:endParaRPr lang="en-GB"/>
          </a:p>
        </p:txBody>
      </p:sp>
    </p:spTree>
    <p:extLst>
      <p:ext uri="{BB962C8B-B14F-4D97-AF65-F5344CB8AC3E}">
        <p14:creationId xmlns:p14="http://schemas.microsoft.com/office/powerpoint/2010/main" val="1965361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0" y="0"/>
            <a:ext cx="12192000" cy="955221"/>
          </a:xfrm>
          <a:prstGeom prst="rect">
            <a:avLst/>
          </a:prstGeom>
          <a:solidFill>
            <a:srgbClr val="7B6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dirty="0"/>
          </a:p>
        </p:txBody>
      </p:sp>
      <p:sp>
        <p:nvSpPr>
          <p:cNvPr id="2" name="Title 1"/>
          <p:cNvSpPr>
            <a:spLocks noGrp="1"/>
          </p:cNvSpPr>
          <p:nvPr>
            <p:ph type="title"/>
          </p:nvPr>
        </p:nvSpPr>
        <p:spPr>
          <a:xfrm>
            <a:off x="250373" y="155122"/>
            <a:ext cx="11702143" cy="702128"/>
          </a:xfrm>
        </p:spPr>
        <p:txBody>
          <a:bodyPr>
            <a:normAutofit/>
          </a:bodyPr>
          <a:lstStyle>
            <a:lvl1pPr>
              <a:defRPr sz="3600">
                <a:solidFill>
                  <a:schemeClr val="bg1"/>
                </a:solidFill>
              </a:defRPr>
            </a:lvl1pPr>
          </a:lstStyle>
          <a:p>
            <a:r>
              <a:rPr lang="en-US"/>
              <a:t>Click to edit Master title style</a:t>
            </a:r>
            <a:endParaRPr lang="en-GB" dirty="0"/>
          </a:p>
        </p:txBody>
      </p:sp>
      <p:sp>
        <p:nvSpPr>
          <p:cNvPr id="3" name="Content Placeholder 2"/>
          <p:cNvSpPr>
            <a:spLocks noGrp="1"/>
          </p:cNvSpPr>
          <p:nvPr>
            <p:ph idx="1"/>
          </p:nvPr>
        </p:nvSpPr>
        <p:spPr>
          <a:xfrm>
            <a:off x="250373" y="1232807"/>
            <a:ext cx="11702143" cy="4944156"/>
          </a:xfrm>
        </p:spPr>
        <p:txBody>
          <a:bodyPr>
            <a:no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a:xfrm>
            <a:off x="250373" y="6356351"/>
            <a:ext cx="1513113" cy="365125"/>
          </a:xfrm>
        </p:spPr>
        <p:txBody>
          <a:bodyPr/>
          <a:lstStyle/>
          <a:p>
            <a:fld id="{B4F8C7A3-725D-4124-BBBD-1241BC874DE3}" type="datetimeFigureOut">
              <a:rPr lang="en-GB" smtClean="0"/>
              <a:t>10/09/2026</a:t>
            </a:fld>
            <a:endParaRPr lang="en-GB"/>
          </a:p>
        </p:txBody>
      </p:sp>
      <p:sp>
        <p:nvSpPr>
          <p:cNvPr id="5" name="Footer Placeholder 4"/>
          <p:cNvSpPr>
            <a:spLocks noGrp="1"/>
          </p:cNvSpPr>
          <p:nvPr>
            <p:ph type="ftr" sz="quarter" idx="11"/>
          </p:nvPr>
        </p:nvSpPr>
        <p:spPr>
          <a:xfrm>
            <a:off x="1959429" y="6356352"/>
            <a:ext cx="8545287" cy="365125"/>
          </a:xfrm>
        </p:spPr>
        <p:txBody>
          <a:bodyPr/>
          <a:lstStyle/>
          <a:p>
            <a:endParaRPr lang="en-GB"/>
          </a:p>
        </p:txBody>
      </p:sp>
      <p:sp>
        <p:nvSpPr>
          <p:cNvPr id="6" name="Slide Number Placeholder 5"/>
          <p:cNvSpPr>
            <a:spLocks noGrp="1"/>
          </p:cNvSpPr>
          <p:nvPr>
            <p:ph type="sldNum" sz="quarter" idx="12"/>
          </p:nvPr>
        </p:nvSpPr>
        <p:spPr>
          <a:xfrm>
            <a:off x="10678886" y="6356350"/>
            <a:ext cx="1273629" cy="365125"/>
          </a:xfrm>
        </p:spPr>
        <p:txBody>
          <a:bodyPr/>
          <a:lstStyle/>
          <a:p>
            <a:fld id="{1F455D0C-05DE-4579-A44D-CFABC4712E00}" type="slidenum">
              <a:rPr lang="en-GB" smtClean="0"/>
              <a:t>‹#›</a:t>
            </a:fld>
            <a:endParaRPr lang="en-GB"/>
          </a:p>
        </p:txBody>
      </p:sp>
    </p:spTree>
    <p:extLst>
      <p:ext uri="{BB962C8B-B14F-4D97-AF65-F5344CB8AC3E}">
        <p14:creationId xmlns:p14="http://schemas.microsoft.com/office/powerpoint/2010/main" val="380642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noProof="0"/>
              <a:t>Click to edit Master title style</a:t>
            </a:r>
            <a:endParaRPr lang="en-GB" noProof="0"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6A97A08D-AAAD-4624-B12D-B2D2F6AF265E}" type="datetimeFigureOut">
              <a:rPr lang="en-GB" smtClean="0"/>
              <a:t>10/09/2026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21C33C1-B32F-4C66-A8A7-26891A6CFEBB}" type="slidenum">
              <a:rPr lang="en-GB" smtClean="0"/>
              <a:t>‹#›</a:t>
            </a:fld>
            <a:endParaRPr lang="en-GB"/>
          </a:p>
        </p:txBody>
      </p:sp>
    </p:spTree>
    <p:extLst>
      <p:ext uri="{BB962C8B-B14F-4D97-AF65-F5344CB8AC3E}">
        <p14:creationId xmlns:p14="http://schemas.microsoft.com/office/powerpoint/2010/main" val="2725268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A97A08D-AAAD-4624-B12D-B2D2F6AF265E}" type="datetimeFigureOut">
              <a:rPr lang="en-GB" smtClean="0"/>
              <a:t>10/09/2026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21C33C1-B32F-4C66-A8A7-26891A6CFEBB}" type="slidenum">
              <a:rPr lang="en-GB" smtClean="0"/>
              <a:t>‹#›</a:t>
            </a:fld>
            <a:endParaRPr lang="en-GB"/>
          </a:p>
        </p:txBody>
      </p:sp>
    </p:spTree>
    <p:extLst>
      <p:ext uri="{BB962C8B-B14F-4D97-AF65-F5344CB8AC3E}">
        <p14:creationId xmlns:p14="http://schemas.microsoft.com/office/powerpoint/2010/main" val="2252023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noProof="0"/>
              <a:t>Click to edit Master title style</a:t>
            </a:r>
            <a:endParaRPr lang="en-GB" noProof="0"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dirty="0"/>
          </a:p>
        </p:txBody>
      </p:sp>
      <p:sp>
        <p:nvSpPr>
          <p:cNvPr id="7" name="Date Placeholder 6"/>
          <p:cNvSpPr>
            <a:spLocks noGrp="1"/>
          </p:cNvSpPr>
          <p:nvPr>
            <p:ph type="dt" sz="half" idx="10"/>
          </p:nvPr>
        </p:nvSpPr>
        <p:spPr/>
        <p:txBody>
          <a:bodyPr/>
          <a:lstStyle/>
          <a:p>
            <a:fld id="{6A97A08D-AAAD-4624-B12D-B2D2F6AF265E}" type="datetimeFigureOut">
              <a:rPr lang="en-GB" smtClean="0"/>
              <a:t>10/09/2026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21C33C1-B32F-4C66-A8A7-26891A6CFEBB}" type="slidenum">
              <a:rPr lang="en-GB" smtClean="0"/>
              <a:t>‹#›</a:t>
            </a:fld>
            <a:endParaRPr lang="en-GB"/>
          </a:p>
        </p:txBody>
      </p:sp>
    </p:spTree>
    <p:extLst>
      <p:ext uri="{BB962C8B-B14F-4D97-AF65-F5344CB8AC3E}">
        <p14:creationId xmlns:p14="http://schemas.microsoft.com/office/powerpoint/2010/main" val="197062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A97A08D-AAAD-4624-B12D-B2D2F6AF265E}" type="datetimeFigureOut">
              <a:rPr lang="en-GB" smtClean="0"/>
              <a:t>10/09/2026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21C33C1-B32F-4C66-A8A7-26891A6CFEBB}" type="slidenum">
              <a:rPr lang="en-GB" smtClean="0"/>
              <a:t>‹#›</a:t>
            </a:fld>
            <a:endParaRPr lang="en-GB"/>
          </a:p>
        </p:txBody>
      </p:sp>
    </p:spTree>
    <p:extLst>
      <p:ext uri="{BB962C8B-B14F-4D97-AF65-F5344CB8AC3E}">
        <p14:creationId xmlns:p14="http://schemas.microsoft.com/office/powerpoint/2010/main" val="55532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97A08D-AAAD-4624-B12D-B2D2F6AF265E}" type="datetimeFigureOut">
              <a:rPr lang="en-GB" smtClean="0"/>
              <a:t>10/09/2026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21C33C1-B32F-4C66-A8A7-26891A6CFEBB}" type="slidenum">
              <a:rPr lang="en-GB" smtClean="0"/>
              <a:t>‹#›</a:t>
            </a:fld>
            <a:endParaRPr lang="en-GB"/>
          </a:p>
        </p:txBody>
      </p:sp>
    </p:spTree>
    <p:extLst>
      <p:ext uri="{BB962C8B-B14F-4D97-AF65-F5344CB8AC3E}">
        <p14:creationId xmlns:p14="http://schemas.microsoft.com/office/powerpoint/2010/main" val="17350071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97A08D-AAAD-4624-B12D-B2D2F6AF265E}" type="datetimeFigureOut">
              <a:rPr lang="en-GB" smtClean="0"/>
              <a:t>10/09/2026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21C33C1-B32F-4C66-A8A7-26891A6CFEBB}" type="slidenum">
              <a:rPr lang="en-GB" smtClean="0"/>
              <a:t>‹#›</a:t>
            </a:fld>
            <a:endParaRPr lang="en-GB"/>
          </a:p>
        </p:txBody>
      </p:sp>
    </p:spTree>
    <p:extLst>
      <p:ext uri="{BB962C8B-B14F-4D97-AF65-F5344CB8AC3E}">
        <p14:creationId xmlns:p14="http://schemas.microsoft.com/office/powerpoint/2010/main" val="127616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A97A08D-AAAD-4624-B12D-B2D2F6AF265E}" type="datetimeFigureOut">
              <a:rPr lang="en-GB" smtClean="0"/>
              <a:t>10/09/2026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21C33C1-B32F-4C66-A8A7-26891A6CFEBB}" type="slidenum">
              <a:rPr lang="en-GB" smtClean="0"/>
              <a:t>‹#›</a:t>
            </a:fld>
            <a:endParaRPr lang="en-GB"/>
          </a:p>
        </p:txBody>
      </p:sp>
    </p:spTree>
    <p:extLst>
      <p:ext uri="{BB962C8B-B14F-4D97-AF65-F5344CB8AC3E}">
        <p14:creationId xmlns:p14="http://schemas.microsoft.com/office/powerpoint/2010/main" val="4102402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97A08D-AAAD-4624-B12D-B2D2F6AF265E}" type="datetimeFigureOut">
              <a:rPr lang="en-GB" smtClean="0"/>
              <a:t>10/09/2026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21C33C1-B32F-4C66-A8A7-26891A6CFEBB}" type="slidenum">
              <a:rPr lang="en-GB" smtClean="0"/>
              <a:t>‹#›</a:t>
            </a:fld>
            <a:endParaRPr lang="en-GB"/>
          </a:p>
        </p:txBody>
      </p:sp>
    </p:spTree>
    <p:extLst>
      <p:ext uri="{BB962C8B-B14F-4D97-AF65-F5344CB8AC3E}">
        <p14:creationId xmlns:p14="http://schemas.microsoft.com/office/powerpoint/2010/main" val="3121288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97A08D-AAAD-4624-B12D-B2D2F6AF265E}" type="datetimeFigureOut">
              <a:rPr lang="en-GB" smtClean="0"/>
              <a:t>10/09/2026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21C33C1-B32F-4C66-A8A7-26891A6CFEBB}" type="slidenum">
              <a:rPr lang="en-GB" smtClean="0"/>
              <a:t>‹#›</a:t>
            </a:fld>
            <a:endParaRPr lang="en-GB"/>
          </a:p>
        </p:txBody>
      </p:sp>
    </p:spTree>
    <p:extLst>
      <p:ext uri="{BB962C8B-B14F-4D97-AF65-F5344CB8AC3E}">
        <p14:creationId xmlns:p14="http://schemas.microsoft.com/office/powerpoint/2010/main" val="375036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546245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8288965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380270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8676289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9/10/2026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8775413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9/10/2026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6842845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8517746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717166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110571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477106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9/10/2026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41845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97A08D-AAAD-4624-B12D-B2D2F6AF265E}" type="datetimeFigureOut">
              <a:rPr lang="en-GB" smtClean="0"/>
              <a:t>10/09/2026</a:t>
            </a:fld>
            <a:endParaRPr lang="en-GB"/>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1C33C1-B32F-4C66-A8A7-26891A6CFEBB}" type="slidenum">
              <a:rPr lang="en-GB" smtClean="0"/>
              <a:t>‹#›</a:t>
            </a:fld>
            <a:endParaRPr lang="en-GB"/>
          </a:p>
        </p:txBody>
      </p:sp>
    </p:spTree>
    <p:extLst>
      <p:ext uri="{BB962C8B-B14F-4D97-AF65-F5344CB8AC3E}">
        <p14:creationId xmlns:p14="http://schemas.microsoft.com/office/powerpoint/2010/main" val="13182071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171344282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image" Target="../media/image11.jpg"/><Relationship Id="rId7"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1.bin"/><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4.bin"/><Relationship Id="rId4" Type="http://schemas.openxmlformats.org/officeDocument/2006/relationships/image" Target="../media/image15.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8.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3.jpg"/><Relationship Id="rId7" Type="http://schemas.openxmlformats.org/officeDocument/2006/relationships/image" Target="../media/image21.png"/><Relationship Id="rId2" Type="http://schemas.openxmlformats.org/officeDocument/2006/relationships/image" Target="../media/image22.jp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4.jp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EEE9"/>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74483B-418C-99D1-AD8E-076E304D3DFE}"/>
              </a:ext>
            </a:extLst>
          </p:cNvPr>
          <p:cNvSpPr txBox="1"/>
          <p:nvPr/>
        </p:nvSpPr>
        <p:spPr>
          <a:xfrm>
            <a:off x="0" y="0"/>
            <a:ext cx="5486400" cy="280076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4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Understanding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4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the brain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4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in theory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4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and practice</a:t>
            </a:r>
          </a:p>
        </p:txBody>
      </p:sp>
      <p:sp>
        <p:nvSpPr>
          <p:cNvPr id="3" name="TextBox 2">
            <a:extLst>
              <a:ext uri="{FF2B5EF4-FFF2-40B4-BE49-F238E27FC236}">
                <a16:creationId xmlns:a16="http://schemas.microsoft.com/office/drawing/2014/main" id="{7A5B9002-E573-2497-B040-F056F083FC14}"/>
              </a:ext>
            </a:extLst>
          </p:cNvPr>
          <p:cNvSpPr txBox="1"/>
          <p:nvPr/>
        </p:nvSpPr>
        <p:spPr>
          <a:xfrm>
            <a:off x="6705600" y="3811012"/>
            <a:ext cx="5486400" cy="3046988"/>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srgbClr val="9A7BE8"/>
                </a:solidFill>
                <a:effectLst/>
                <a:uLnTx/>
                <a:uFillTx/>
                <a:latin typeface="Consolas" panose="020B0609020204030204" pitchFamily="49" charset="0"/>
                <a:ea typeface="+mn-ea"/>
                <a:cs typeface="+mn-cs"/>
              </a:rPr>
              <a:t>A series of</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srgbClr val="9A7BE8"/>
                </a:solidFill>
                <a:effectLst/>
                <a:uLnTx/>
                <a:uFillTx/>
                <a:latin typeface="Consolas" panose="020B0609020204030204" pitchFamily="49" charset="0"/>
                <a:ea typeface="+mn-ea"/>
                <a:cs typeface="+mn-cs"/>
              </a:rPr>
              <a:t>interactive workshops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srgbClr val="9A7BE8"/>
                </a:solidFill>
                <a:effectLst/>
                <a:uLnTx/>
                <a:uFillTx/>
                <a:latin typeface="Consolas" panose="020B0609020204030204" pitchFamily="49" charset="0"/>
                <a:ea typeface="+mn-ea"/>
                <a:cs typeface="+mn-cs"/>
              </a:rPr>
              <a:t>on building better experiment-theory collaborations in neuroscience</a:t>
            </a:r>
          </a:p>
        </p:txBody>
      </p:sp>
      <p:pic>
        <p:nvPicPr>
          <p:cNvPr id="7" name="Picture 6">
            <a:extLst>
              <a:ext uri="{FF2B5EF4-FFF2-40B4-BE49-F238E27FC236}">
                <a16:creationId xmlns:a16="http://schemas.microsoft.com/office/drawing/2014/main" id="{AEC2217B-FB8C-1FF5-3F23-A5B12E9078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2834633" y="2609086"/>
            <a:ext cx="6522733" cy="1639827"/>
          </a:xfrm>
          <a:prstGeom prst="rect">
            <a:avLst/>
          </a:prstGeom>
        </p:spPr>
      </p:pic>
    </p:spTree>
    <p:extLst>
      <p:ext uri="{BB962C8B-B14F-4D97-AF65-F5344CB8AC3E}">
        <p14:creationId xmlns:p14="http://schemas.microsoft.com/office/powerpoint/2010/main" val="3483791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D58D3-021C-429A-BBEA-917A6E431D9B}"/>
              </a:ext>
            </a:extLst>
          </p:cNvPr>
          <p:cNvSpPr>
            <a:spLocks noGrp="1"/>
          </p:cNvSpPr>
          <p:nvPr>
            <p:ph type="ctrTitle"/>
          </p:nvPr>
        </p:nvSpPr>
        <p:spPr>
          <a:xfrm>
            <a:off x="279699" y="259644"/>
            <a:ext cx="11653339" cy="3250319"/>
          </a:xfrm>
        </p:spPr>
        <p:txBody>
          <a:bodyPr>
            <a:normAutofit/>
          </a:bodyPr>
          <a:lstStyle/>
          <a:p>
            <a:r>
              <a:rPr lang="en-US" b="1" dirty="0"/>
              <a:t>Does heterogeneity help the brain and how could we know if it did?</a:t>
            </a:r>
            <a:endParaRPr lang="en-GB" b="1" dirty="0">
              <a:solidFill>
                <a:schemeClr val="bg1"/>
              </a:solidFill>
            </a:endParaRPr>
          </a:p>
        </p:txBody>
      </p:sp>
      <p:sp>
        <p:nvSpPr>
          <p:cNvPr id="3" name="Subtitle 2">
            <a:extLst>
              <a:ext uri="{FF2B5EF4-FFF2-40B4-BE49-F238E27FC236}">
                <a16:creationId xmlns:a16="http://schemas.microsoft.com/office/drawing/2014/main" id="{A3B2EAAB-C982-419A-83C2-2AE7600566B6}"/>
              </a:ext>
            </a:extLst>
          </p:cNvPr>
          <p:cNvSpPr>
            <a:spLocks noGrp="1"/>
          </p:cNvSpPr>
          <p:nvPr>
            <p:ph type="subTitle" idx="1"/>
          </p:nvPr>
        </p:nvSpPr>
        <p:spPr>
          <a:ln>
            <a:noFill/>
          </a:ln>
        </p:spPr>
        <p:txBody>
          <a:bodyPr/>
          <a:lstStyle/>
          <a:p>
            <a:r>
              <a:rPr lang="en-GB" sz="4000" dirty="0"/>
              <a:t>Dan Goodman</a:t>
            </a:r>
          </a:p>
          <a:p>
            <a:r>
              <a:rPr lang="en-GB" dirty="0"/>
              <a:t>Imperial College London</a:t>
            </a:r>
          </a:p>
          <a:p>
            <a:r>
              <a:rPr lang="en-GB" sz="1800" dirty="0"/>
              <a:t>Department of Electrical and Electronic Engineering</a:t>
            </a:r>
          </a:p>
        </p:txBody>
      </p:sp>
      <p:pic>
        <p:nvPicPr>
          <p:cNvPr id="5" name="Picture 4" descr="A picture containing text&#10;&#10;Description automatically generated">
            <a:extLst>
              <a:ext uri="{FF2B5EF4-FFF2-40B4-BE49-F238E27FC236}">
                <a16:creationId xmlns:a16="http://schemas.microsoft.com/office/drawing/2014/main" id="{008CAC22-ABA8-4D9B-A154-1C28BE9C7C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55015" y="5100490"/>
            <a:ext cx="2595904" cy="1356360"/>
          </a:xfrm>
          <a:prstGeom prst="rect">
            <a:avLst/>
          </a:prstGeom>
        </p:spPr>
      </p:pic>
      <p:sp>
        <p:nvSpPr>
          <p:cNvPr id="9" name="TextBox 8">
            <a:extLst>
              <a:ext uri="{FF2B5EF4-FFF2-40B4-BE49-F238E27FC236}">
                <a16:creationId xmlns:a16="http://schemas.microsoft.com/office/drawing/2014/main" id="{1CCEF47F-23D5-455F-AC8D-1304CC3C9F52}"/>
              </a:ext>
            </a:extLst>
          </p:cNvPr>
          <p:cNvSpPr txBox="1"/>
          <p:nvPr/>
        </p:nvSpPr>
        <p:spPr>
          <a:xfrm>
            <a:off x="9772895" y="6456850"/>
            <a:ext cx="2160143" cy="369332"/>
          </a:xfrm>
          <a:prstGeom prst="rect">
            <a:avLst/>
          </a:prstGeom>
          <a:noFill/>
        </p:spPr>
        <p:txBody>
          <a:bodyPr wrap="none" rtlCol="0">
            <a:spAutoFit/>
          </a:bodyPr>
          <a:lstStyle/>
          <a:p>
            <a:r>
              <a:rPr lang="en-GB" dirty="0"/>
              <a:t>neural-reckoning.org</a:t>
            </a:r>
          </a:p>
        </p:txBody>
      </p:sp>
      <p:pic>
        <p:nvPicPr>
          <p:cNvPr id="6" name="Picture 5" descr="A blue letters on a black background&#10;&#10;Description automatically generated">
            <a:extLst>
              <a:ext uri="{FF2B5EF4-FFF2-40B4-BE49-F238E27FC236}">
                <a16:creationId xmlns:a16="http://schemas.microsoft.com/office/drawing/2014/main" id="{B8BD8BF9-1270-409B-2623-688E48D171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9699" y="5613399"/>
            <a:ext cx="3745527" cy="741414"/>
          </a:xfrm>
          <a:prstGeom prst="rect">
            <a:avLst/>
          </a:prstGeom>
        </p:spPr>
      </p:pic>
      <p:pic>
        <p:nvPicPr>
          <p:cNvPr id="4" name="Picture 3" descr="https://neural-reckoning.org/pub_heterogeneity-qrcode.png">
            <a:extLst>
              <a:ext uri="{FF2B5EF4-FFF2-40B4-BE49-F238E27FC236}">
                <a16:creationId xmlns:a16="http://schemas.microsoft.com/office/drawing/2014/main" id="{2E403E2F-6C59-1D1E-951E-47EF258DE60C}"/>
              </a:ext>
            </a:extLst>
          </p:cNvPr>
          <p:cNvPicPr>
            <a:picLocks noChangeAspect="1"/>
          </p:cNvPicPr>
          <p:nvPr/>
        </p:nvPicPr>
        <p:blipFill>
          <a:blip r:embed="rId5"/>
          <a:stretch>
            <a:fillRect/>
          </a:stretch>
        </p:blipFill>
        <p:spPr>
          <a:xfrm>
            <a:off x="10499463" y="118828"/>
            <a:ext cx="1519635" cy="1519635"/>
          </a:xfrm>
          <a:prstGeom prst="rect">
            <a:avLst/>
          </a:prstGeom>
        </p:spPr>
      </p:pic>
      <p:sp>
        <p:nvSpPr>
          <p:cNvPr id="7" name="TextBox 6">
            <a:extLst>
              <a:ext uri="{FF2B5EF4-FFF2-40B4-BE49-F238E27FC236}">
                <a16:creationId xmlns:a16="http://schemas.microsoft.com/office/drawing/2014/main" id="{BB897701-735B-FFC5-56A3-2D09C925A2C9}"/>
              </a:ext>
            </a:extLst>
          </p:cNvPr>
          <p:cNvSpPr txBox="1"/>
          <p:nvPr/>
        </p:nvSpPr>
        <p:spPr>
          <a:xfrm>
            <a:off x="8435628" y="118828"/>
            <a:ext cx="2063835" cy="400110"/>
          </a:xfrm>
          <a:prstGeom prst="rect">
            <a:avLst/>
          </a:prstGeom>
          <a:noFill/>
        </p:spPr>
        <p:txBody>
          <a:bodyPr wrap="none" rtlCol="0">
            <a:spAutoFit/>
          </a:bodyPr>
          <a:lstStyle/>
          <a:p>
            <a:pPr algn="l"/>
            <a:r>
              <a:rPr lang="en-GB" sz="2000" dirty="0">
                <a:solidFill>
                  <a:schemeClr val="bg1"/>
                </a:solidFill>
              </a:rPr>
              <a:t>Perez et al. (2021)</a:t>
            </a:r>
          </a:p>
        </p:txBody>
      </p:sp>
    </p:spTree>
    <p:extLst>
      <p:ext uri="{BB962C8B-B14F-4D97-AF65-F5344CB8AC3E}">
        <p14:creationId xmlns:p14="http://schemas.microsoft.com/office/powerpoint/2010/main" val="304400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1E1B0-2C1E-B100-BCED-AC7405856DF7}"/>
              </a:ext>
            </a:extLst>
          </p:cNvPr>
          <p:cNvSpPr>
            <a:spLocks noGrp="1"/>
          </p:cNvSpPr>
          <p:nvPr>
            <p:ph type="title"/>
          </p:nvPr>
        </p:nvSpPr>
        <p:spPr/>
        <p:txBody>
          <a:bodyPr/>
          <a:lstStyle/>
          <a:p>
            <a:r>
              <a:rPr lang="en-GB" dirty="0"/>
              <a:t>Plan for today</a:t>
            </a:r>
          </a:p>
        </p:txBody>
      </p:sp>
      <p:sp>
        <p:nvSpPr>
          <p:cNvPr id="3" name="Content Placeholder 2">
            <a:extLst>
              <a:ext uri="{FF2B5EF4-FFF2-40B4-BE49-F238E27FC236}">
                <a16:creationId xmlns:a16="http://schemas.microsoft.com/office/drawing/2014/main" id="{E1299331-DB08-918D-F479-F1306930FB6A}"/>
              </a:ext>
            </a:extLst>
          </p:cNvPr>
          <p:cNvSpPr>
            <a:spLocks noGrp="1"/>
          </p:cNvSpPr>
          <p:nvPr>
            <p:ph idx="1"/>
          </p:nvPr>
        </p:nvSpPr>
        <p:spPr/>
        <p:txBody>
          <a:bodyPr/>
          <a:lstStyle/>
          <a:p>
            <a:pPr marL="0" indent="0">
              <a:buNone/>
            </a:pPr>
            <a:r>
              <a:rPr lang="en-GB" dirty="0"/>
              <a:t>Going to try something a bit different today</a:t>
            </a:r>
          </a:p>
          <a:p>
            <a:pPr marL="0" indent="0">
              <a:buNone/>
            </a:pPr>
            <a:r>
              <a:rPr lang="en-GB" dirty="0"/>
              <a:t>Will present some of our ‘pure theory’ research on neural heterogeneity, but…</a:t>
            </a:r>
          </a:p>
          <a:p>
            <a:pPr marL="0" indent="0">
              <a:buNone/>
            </a:pPr>
            <a:r>
              <a:rPr lang="en-GB" dirty="0"/>
              <a:t>Brainstorm how this work could be made to work better with experimental research</a:t>
            </a:r>
          </a:p>
          <a:p>
            <a:pPr marL="0" indent="0">
              <a:buNone/>
            </a:pPr>
            <a:endParaRPr lang="en-GB" dirty="0"/>
          </a:p>
          <a:p>
            <a:pPr marL="0" indent="0">
              <a:buNone/>
            </a:pPr>
            <a:r>
              <a:rPr lang="en-GB" dirty="0"/>
              <a:t>Discussion will be around these questions (so think about it as you listen):</a:t>
            </a:r>
          </a:p>
          <a:p>
            <a:pPr marL="457200" indent="-457200">
              <a:buFont typeface="+mj-lt"/>
              <a:buAutoNum type="arabicPeriod"/>
            </a:pPr>
            <a:r>
              <a:rPr lang="en-GB" dirty="0"/>
              <a:t>Do we learn anything about the brain by evaluating how well models perform tasks?</a:t>
            </a:r>
          </a:p>
          <a:p>
            <a:pPr marL="457200" indent="-457200">
              <a:buFont typeface="+mj-lt"/>
              <a:buAutoNum type="arabicPeriod"/>
            </a:pPr>
            <a:r>
              <a:rPr lang="en-GB" dirty="0"/>
              <a:t>Can we test theories about a multiply redundant brain?</a:t>
            </a:r>
          </a:p>
          <a:p>
            <a:pPr marL="457200" indent="-457200">
              <a:buFont typeface="+mj-lt"/>
              <a:buAutoNum type="arabicPeriod"/>
            </a:pPr>
            <a:r>
              <a:rPr lang="en-GB" dirty="0"/>
              <a:t>How could we experimentally test theories about the function of neural heterogeneity?</a:t>
            </a:r>
          </a:p>
          <a:p>
            <a:pPr marL="457200" indent="-457200">
              <a:buFont typeface="+mj-lt"/>
              <a:buAutoNum type="arabicPeriod"/>
            </a:pPr>
            <a:r>
              <a:rPr lang="en-GB" dirty="0"/>
              <a:t>Can theoretical work that can’t be tested contribute to understanding the brain?</a:t>
            </a:r>
          </a:p>
          <a:p>
            <a:pPr marL="457200" indent="-457200">
              <a:buFont typeface="+mj-lt"/>
              <a:buAutoNum type="arabicPeriod"/>
            </a:pPr>
            <a:endParaRPr lang="en-GB" dirty="0"/>
          </a:p>
          <a:p>
            <a:pPr marL="0" indent="0">
              <a:buNone/>
            </a:pPr>
            <a:r>
              <a:rPr lang="en-GB" dirty="0"/>
              <a:t>Afterwards – discussion of whether to write an opinion paper based on this series?</a:t>
            </a:r>
          </a:p>
        </p:txBody>
      </p:sp>
    </p:spTree>
    <p:extLst>
      <p:ext uri="{BB962C8B-B14F-4D97-AF65-F5344CB8AC3E}">
        <p14:creationId xmlns:p14="http://schemas.microsoft.com/office/powerpoint/2010/main" val="1841873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2F72E-51F0-47B9-AD99-D9CF023D26C2}"/>
              </a:ext>
            </a:extLst>
          </p:cNvPr>
          <p:cNvSpPr>
            <a:spLocks noGrp="1"/>
          </p:cNvSpPr>
          <p:nvPr>
            <p:ph type="title"/>
          </p:nvPr>
        </p:nvSpPr>
        <p:spPr/>
        <p:txBody>
          <a:bodyPr/>
          <a:lstStyle/>
          <a:p>
            <a:r>
              <a:rPr lang="en-GB" dirty="0"/>
              <a:t>Why is the brain so heterogeneous?</a:t>
            </a:r>
          </a:p>
        </p:txBody>
      </p:sp>
      <p:pic>
        <p:nvPicPr>
          <p:cNvPr id="5" name="Content Placeholder 4" descr="A picture containing plant&#10;&#10;Description automatically generated">
            <a:extLst>
              <a:ext uri="{FF2B5EF4-FFF2-40B4-BE49-F238E27FC236}">
                <a16:creationId xmlns:a16="http://schemas.microsoft.com/office/drawing/2014/main" id="{FBFF8DD8-CE04-44BE-ADC6-FA5C0D29945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265205" y="2080034"/>
            <a:ext cx="2180042" cy="1703158"/>
          </a:xfrm>
        </p:spPr>
      </p:pic>
      <p:pic>
        <p:nvPicPr>
          <p:cNvPr id="7" name="Picture 6" descr="A picture containing plant, dark, silhouette&#10;&#10;Description automatically generated">
            <a:extLst>
              <a:ext uri="{FF2B5EF4-FFF2-40B4-BE49-F238E27FC236}">
                <a16:creationId xmlns:a16="http://schemas.microsoft.com/office/drawing/2014/main" id="{EC5F4AA3-6B32-41CC-A634-BA12A88B0D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3103" y="2080033"/>
            <a:ext cx="2249374" cy="1703158"/>
          </a:xfrm>
          <a:prstGeom prst="rect">
            <a:avLst/>
          </a:prstGeom>
        </p:spPr>
      </p:pic>
      <p:pic>
        <p:nvPicPr>
          <p:cNvPr id="11" name="Picture 10" descr="A picture containing fireworks, outdoor object&#10;&#10;Description automatically generated">
            <a:extLst>
              <a:ext uri="{FF2B5EF4-FFF2-40B4-BE49-F238E27FC236}">
                <a16:creationId xmlns:a16="http://schemas.microsoft.com/office/drawing/2014/main" id="{401BA8D1-AEC8-48E7-81BE-E8BA8D24E7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65204" y="3891191"/>
            <a:ext cx="2180041" cy="1744033"/>
          </a:xfrm>
          <a:prstGeom prst="rect">
            <a:avLst/>
          </a:prstGeom>
        </p:spPr>
      </p:pic>
      <p:pic>
        <p:nvPicPr>
          <p:cNvPr id="13" name="Picture 12">
            <a:extLst>
              <a:ext uri="{FF2B5EF4-FFF2-40B4-BE49-F238E27FC236}">
                <a16:creationId xmlns:a16="http://schemas.microsoft.com/office/drawing/2014/main" id="{DCE0D0E0-98A2-47B2-A876-8DAF584D29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3103" y="3891192"/>
            <a:ext cx="2249374" cy="1757323"/>
          </a:xfrm>
          <a:prstGeom prst="rect">
            <a:avLst/>
          </a:prstGeom>
        </p:spPr>
      </p:pic>
      <p:sp>
        <p:nvSpPr>
          <p:cNvPr id="14" name="TextBox 13">
            <a:extLst>
              <a:ext uri="{FF2B5EF4-FFF2-40B4-BE49-F238E27FC236}">
                <a16:creationId xmlns:a16="http://schemas.microsoft.com/office/drawing/2014/main" id="{78EB9D7D-5A03-4898-A890-891C8799DD47}"/>
              </a:ext>
            </a:extLst>
          </p:cNvPr>
          <p:cNvSpPr txBox="1"/>
          <p:nvPr/>
        </p:nvSpPr>
        <p:spPr>
          <a:xfrm>
            <a:off x="884351" y="1692195"/>
            <a:ext cx="4556247" cy="369332"/>
          </a:xfrm>
          <a:prstGeom prst="rect">
            <a:avLst/>
          </a:prstGeom>
          <a:noFill/>
        </p:spPr>
        <p:txBody>
          <a:bodyPr wrap="none" rtlCol="0">
            <a:spAutoFit/>
          </a:bodyPr>
          <a:lstStyle/>
          <a:p>
            <a:r>
              <a:rPr lang="en-GB" dirty="0"/>
              <a:t>Some random neurons from neuromorpho.org</a:t>
            </a:r>
          </a:p>
        </p:txBody>
      </p:sp>
      <p:sp>
        <p:nvSpPr>
          <p:cNvPr id="70" name="TextBox 69">
            <a:extLst>
              <a:ext uri="{FF2B5EF4-FFF2-40B4-BE49-F238E27FC236}">
                <a16:creationId xmlns:a16="http://schemas.microsoft.com/office/drawing/2014/main" id="{89370DA9-8399-4E20-92C9-3B0631D44C81}"/>
              </a:ext>
            </a:extLst>
          </p:cNvPr>
          <p:cNvSpPr txBox="1"/>
          <p:nvPr/>
        </p:nvSpPr>
        <p:spPr>
          <a:xfrm>
            <a:off x="1531965" y="1196419"/>
            <a:ext cx="3261021" cy="523220"/>
          </a:xfrm>
          <a:prstGeom prst="rect">
            <a:avLst/>
          </a:prstGeom>
          <a:noFill/>
        </p:spPr>
        <p:txBody>
          <a:bodyPr wrap="none" rtlCol="0">
            <a:spAutoFit/>
          </a:bodyPr>
          <a:lstStyle/>
          <a:p>
            <a:r>
              <a:rPr lang="en-GB" sz="2800" dirty="0"/>
              <a:t>What the brain is like</a:t>
            </a:r>
          </a:p>
        </p:txBody>
      </p:sp>
      <p:grpSp>
        <p:nvGrpSpPr>
          <p:cNvPr id="3" name="Group 2">
            <a:extLst>
              <a:ext uri="{FF2B5EF4-FFF2-40B4-BE49-F238E27FC236}">
                <a16:creationId xmlns:a16="http://schemas.microsoft.com/office/drawing/2014/main" id="{793C92C5-E937-44D4-94B6-723DD9D4F2A2}"/>
              </a:ext>
            </a:extLst>
          </p:cNvPr>
          <p:cNvGrpSpPr/>
          <p:nvPr/>
        </p:nvGrpSpPr>
        <p:grpSpPr>
          <a:xfrm>
            <a:off x="6851767" y="1196419"/>
            <a:ext cx="3840731" cy="3162899"/>
            <a:chOff x="6925460" y="1684158"/>
            <a:chExt cx="3840731" cy="3162899"/>
          </a:xfrm>
        </p:grpSpPr>
        <p:grpSp>
          <p:nvGrpSpPr>
            <p:cNvPr id="29" name="Group 28">
              <a:extLst>
                <a:ext uri="{FF2B5EF4-FFF2-40B4-BE49-F238E27FC236}">
                  <a16:creationId xmlns:a16="http://schemas.microsoft.com/office/drawing/2014/main" id="{7A4EC7E4-B8A7-4096-835C-6D3DB1BDC8F2}"/>
                </a:ext>
              </a:extLst>
            </p:cNvPr>
            <p:cNvGrpSpPr/>
            <p:nvPr/>
          </p:nvGrpSpPr>
          <p:grpSpPr>
            <a:xfrm>
              <a:off x="7865545" y="2582030"/>
              <a:ext cx="397429" cy="2265027"/>
              <a:chOff x="7382312" y="2100394"/>
              <a:chExt cx="397429" cy="2265027"/>
            </a:xfrm>
          </p:grpSpPr>
          <p:sp>
            <p:nvSpPr>
              <p:cNvPr id="15" name="Oval 14">
                <a:extLst>
                  <a:ext uri="{FF2B5EF4-FFF2-40B4-BE49-F238E27FC236}">
                    <a16:creationId xmlns:a16="http://schemas.microsoft.com/office/drawing/2014/main" id="{C25F2A2C-BB5C-4B68-8B9B-C27EC3E906DB}"/>
                  </a:ext>
                </a:extLst>
              </p:cNvPr>
              <p:cNvSpPr/>
              <p:nvPr/>
            </p:nvSpPr>
            <p:spPr>
              <a:xfrm>
                <a:off x="7382312" y="3036815"/>
                <a:ext cx="392185" cy="39218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Connector 16">
                <a:extLst>
                  <a:ext uri="{FF2B5EF4-FFF2-40B4-BE49-F238E27FC236}">
                    <a16:creationId xmlns:a16="http://schemas.microsoft.com/office/drawing/2014/main" id="{97DDB16C-D377-4BAA-9B53-6597F8F2A1E3}"/>
                  </a:ext>
                </a:extLst>
              </p:cNvPr>
              <p:cNvCxnSpPr>
                <a:stCxn id="15" idx="4"/>
              </p:cNvCxnSpPr>
              <p:nvPr/>
            </p:nvCxnSpPr>
            <p:spPr>
              <a:xfrm>
                <a:off x="7578405" y="3429000"/>
                <a:ext cx="5243" cy="7403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E642AE8-E408-4451-8303-7F8CB6184F53}"/>
                  </a:ext>
                </a:extLst>
              </p:cNvPr>
              <p:cNvCxnSpPr/>
              <p:nvPr/>
            </p:nvCxnSpPr>
            <p:spPr>
              <a:xfrm flipH="1">
                <a:off x="7390176" y="4169328"/>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A45CDC0-E9F2-4128-8712-F447716D9E16}"/>
                  </a:ext>
                </a:extLst>
              </p:cNvPr>
              <p:cNvCxnSpPr/>
              <p:nvPr/>
            </p:nvCxnSpPr>
            <p:spPr>
              <a:xfrm>
                <a:off x="7583798" y="4169328"/>
                <a:ext cx="0"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FA671D7-5E9E-48DF-A299-F333702D5980}"/>
                  </a:ext>
                </a:extLst>
              </p:cNvPr>
              <p:cNvCxnSpPr/>
              <p:nvPr/>
            </p:nvCxnSpPr>
            <p:spPr>
              <a:xfrm>
                <a:off x="7583648" y="4169328"/>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D8F1477-1F47-4EB0-A62B-9EEF20DDBB04}"/>
                  </a:ext>
                </a:extLst>
              </p:cNvPr>
              <p:cNvCxnSpPr>
                <a:cxnSpLocks/>
              </p:cNvCxnSpPr>
              <p:nvPr/>
            </p:nvCxnSpPr>
            <p:spPr>
              <a:xfrm rot="10800000">
                <a:off x="7583648" y="2296487"/>
                <a:ext cx="5243" cy="7403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E23B1F-4120-4398-BEB4-6C20ADBB2240}"/>
                  </a:ext>
                </a:extLst>
              </p:cNvPr>
              <p:cNvCxnSpPr>
                <a:cxnSpLocks/>
              </p:cNvCxnSpPr>
              <p:nvPr/>
            </p:nvCxnSpPr>
            <p:spPr>
              <a:xfrm rot="10800000" flipH="1">
                <a:off x="7583647" y="2100394"/>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F5BD099-5244-4D37-BAE1-B1049FCF490D}"/>
                  </a:ext>
                </a:extLst>
              </p:cNvPr>
              <p:cNvCxnSpPr>
                <a:cxnSpLocks/>
              </p:cNvCxnSpPr>
              <p:nvPr/>
            </p:nvCxnSpPr>
            <p:spPr>
              <a:xfrm rot="10800000">
                <a:off x="7586269" y="2100394"/>
                <a:ext cx="0"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B5124AB-8681-4DC1-9BA5-CA60CAB70ACC}"/>
                  </a:ext>
                </a:extLst>
              </p:cNvPr>
              <p:cNvCxnSpPr>
                <a:cxnSpLocks/>
              </p:cNvCxnSpPr>
              <p:nvPr/>
            </p:nvCxnSpPr>
            <p:spPr>
              <a:xfrm rot="10800000">
                <a:off x="7387555" y="2100394"/>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ED363EDC-0003-4966-A23B-023EE1207D54}"/>
                </a:ext>
              </a:extLst>
            </p:cNvPr>
            <p:cNvGrpSpPr/>
            <p:nvPr/>
          </p:nvGrpSpPr>
          <p:grpSpPr>
            <a:xfrm>
              <a:off x="8649734" y="2582030"/>
              <a:ext cx="397429" cy="2265027"/>
              <a:chOff x="7382312" y="2100394"/>
              <a:chExt cx="397429" cy="2265027"/>
            </a:xfrm>
          </p:grpSpPr>
          <p:sp>
            <p:nvSpPr>
              <p:cNvPr id="31" name="Oval 30">
                <a:extLst>
                  <a:ext uri="{FF2B5EF4-FFF2-40B4-BE49-F238E27FC236}">
                    <a16:creationId xmlns:a16="http://schemas.microsoft.com/office/drawing/2014/main" id="{50852EF2-F76A-44A7-B9F1-F3D48F5EA476}"/>
                  </a:ext>
                </a:extLst>
              </p:cNvPr>
              <p:cNvSpPr/>
              <p:nvPr/>
            </p:nvSpPr>
            <p:spPr>
              <a:xfrm>
                <a:off x="7382312" y="3036815"/>
                <a:ext cx="392185" cy="39218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32" name="Straight Connector 31">
                <a:extLst>
                  <a:ext uri="{FF2B5EF4-FFF2-40B4-BE49-F238E27FC236}">
                    <a16:creationId xmlns:a16="http://schemas.microsoft.com/office/drawing/2014/main" id="{C2C2BB5B-8D92-4449-9972-FCA2E0B6BA62}"/>
                  </a:ext>
                </a:extLst>
              </p:cNvPr>
              <p:cNvCxnSpPr>
                <a:stCxn id="31" idx="4"/>
              </p:cNvCxnSpPr>
              <p:nvPr/>
            </p:nvCxnSpPr>
            <p:spPr>
              <a:xfrm>
                <a:off x="7578405" y="3429000"/>
                <a:ext cx="5243" cy="7403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2A720F5-F2F0-4754-B6D4-7099C0D08895}"/>
                  </a:ext>
                </a:extLst>
              </p:cNvPr>
              <p:cNvCxnSpPr/>
              <p:nvPr/>
            </p:nvCxnSpPr>
            <p:spPr>
              <a:xfrm flipH="1">
                <a:off x="7390176" y="4169328"/>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A6D3A7B-8079-4D22-A960-5ABEFD3E3419}"/>
                  </a:ext>
                </a:extLst>
              </p:cNvPr>
              <p:cNvCxnSpPr/>
              <p:nvPr/>
            </p:nvCxnSpPr>
            <p:spPr>
              <a:xfrm>
                <a:off x="7583798" y="4169328"/>
                <a:ext cx="0"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B41094C-5022-4261-8FDA-EC1A42F4AE53}"/>
                  </a:ext>
                </a:extLst>
              </p:cNvPr>
              <p:cNvCxnSpPr/>
              <p:nvPr/>
            </p:nvCxnSpPr>
            <p:spPr>
              <a:xfrm>
                <a:off x="7583648" y="4169328"/>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D60E521-F9C5-4B76-9805-EA889910E742}"/>
                  </a:ext>
                </a:extLst>
              </p:cNvPr>
              <p:cNvCxnSpPr>
                <a:cxnSpLocks/>
              </p:cNvCxnSpPr>
              <p:nvPr/>
            </p:nvCxnSpPr>
            <p:spPr>
              <a:xfrm rot="10800000">
                <a:off x="7583648" y="2296487"/>
                <a:ext cx="5243" cy="7403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83F6046-2F18-4A0F-AA18-6C3547A52AAD}"/>
                  </a:ext>
                </a:extLst>
              </p:cNvPr>
              <p:cNvCxnSpPr>
                <a:cxnSpLocks/>
              </p:cNvCxnSpPr>
              <p:nvPr/>
            </p:nvCxnSpPr>
            <p:spPr>
              <a:xfrm rot="10800000" flipH="1">
                <a:off x="7583647" y="2100394"/>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087DA97-94AB-49B2-B12F-FEC9B290098F}"/>
                  </a:ext>
                </a:extLst>
              </p:cNvPr>
              <p:cNvCxnSpPr>
                <a:cxnSpLocks/>
              </p:cNvCxnSpPr>
              <p:nvPr/>
            </p:nvCxnSpPr>
            <p:spPr>
              <a:xfrm rot="10800000">
                <a:off x="7586269" y="2100394"/>
                <a:ext cx="0"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151D30C-8A41-41C0-AAEE-859A921C97C0}"/>
                  </a:ext>
                </a:extLst>
              </p:cNvPr>
              <p:cNvCxnSpPr>
                <a:cxnSpLocks/>
              </p:cNvCxnSpPr>
              <p:nvPr/>
            </p:nvCxnSpPr>
            <p:spPr>
              <a:xfrm rot="10800000">
                <a:off x="7387555" y="2100394"/>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Group 39">
              <a:extLst>
                <a:ext uri="{FF2B5EF4-FFF2-40B4-BE49-F238E27FC236}">
                  <a16:creationId xmlns:a16="http://schemas.microsoft.com/office/drawing/2014/main" id="{C8D0FDAF-F404-49F0-A6E0-70E11774524D}"/>
                </a:ext>
              </a:extLst>
            </p:cNvPr>
            <p:cNvGrpSpPr/>
            <p:nvPr/>
          </p:nvGrpSpPr>
          <p:grpSpPr>
            <a:xfrm>
              <a:off x="7097086" y="2582030"/>
              <a:ext cx="397429" cy="2265027"/>
              <a:chOff x="7382312" y="2100394"/>
              <a:chExt cx="397429" cy="2265027"/>
            </a:xfrm>
          </p:grpSpPr>
          <p:sp>
            <p:nvSpPr>
              <p:cNvPr id="41" name="Oval 40">
                <a:extLst>
                  <a:ext uri="{FF2B5EF4-FFF2-40B4-BE49-F238E27FC236}">
                    <a16:creationId xmlns:a16="http://schemas.microsoft.com/office/drawing/2014/main" id="{7FF78D42-5AFD-4855-BDDD-411A3F2EA3FD}"/>
                  </a:ext>
                </a:extLst>
              </p:cNvPr>
              <p:cNvSpPr/>
              <p:nvPr/>
            </p:nvSpPr>
            <p:spPr>
              <a:xfrm>
                <a:off x="7382312" y="3036815"/>
                <a:ext cx="392185" cy="39218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2" name="Straight Connector 41">
                <a:extLst>
                  <a:ext uri="{FF2B5EF4-FFF2-40B4-BE49-F238E27FC236}">
                    <a16:creationId xmlns:a16="http://schemas.microsoft.com/office/drawing/2014/main" id="{AC5FDF76-2108-4BC1-9BA2-C07036A255D6}"/>
                  </a:ext>
                </a:extLst>
              </p:cNvPr>
              <p:cNvCxnSpPr>
                <a:stCxn id="41" idx="4"/>
              </p:cNvCxnSpPr>
              <p:nvPr/>
            </p:nvCxnSpPr>
            <p:spPr>
              <a:xfrm>
                <a:off x="7578405" y="3429000"/>
                <a:ext cx="5243" cy="7403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D080561-3B58-4246-BE3B-75D677273BE7}"/>
                  </a:ext>
                </a:extLst>
              </p:cNvPr>
              <p:cNvCxnSpPr/>
              <p:nvPr/>
            </p:nvCxnSpPr>
            <p:spPr>
              <a:xfrm flipH="1">
                <a:off x="7390176" y="4169328"/>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D453DDF-9FB6-4464-BB29-BCFF3F74F0EE}"/>
                  </a:ext>
                </a:extLst>
              </p:cNvPr>
              <p:cNvCxnSpPr/>
              <p:nvPr/>
            </p:nvCxnSpPr>
            <p:spPr>
              <a:xfrm>
                <a:off x="7583798" y="4169328"/>
                <a:ext cx="0"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DF341E4-1837-43A7-BD74-4257B026369C}"/>
                  </a:ext>
                </a:extLst>
              </p:cNvPr>
              <p:cNvCxnSpPr/>
              <p:nvPr/>
            </p:nvCxnSpPr>
            <p:spPr>
              <a:xfrm>
                <a:off x="7583648" y="4169328"/>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B7984E2-0EFE-4937-AB2D-C026562EDDA9}"/>
                  </a:ext>
                </a:extLst>
              </p:cNvPr>
              <p:cNvCxnSpPr>
                <a:cxnSpLocks/>
              </p:cNvCxnSpPr>
              <p:nvPr/>
            </p:nvCxnSpPr>
            <p:spPr>
              <a:xfrm rot="10800000">
                <a:off x="7583648" y="2296487"/>
                <a:ext cx="5243" cy="7403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82BF25F-F827-4DAF-B2B2-2C69489DA59A}"/>
                  </a:ext>
                </a:extLst>
              </p:cNvPr>
              <p:cNvCxnSpPr>
                <a:cxnSpLocks/>
              </p:cNvCxnSpPr>
              <p:nvPr/>
            </p:nvCxnSpPr>
            <p:spPr>
              <a:xfrm rot="10800000" flipH="1">
                <a:off x="7583647" y="2100394"/>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3D24773-5AF2-4114-B6CD-1EFD3CF8CFCC}"/>
                  </a:ext>
                </a:extLst>
              </p:cNvPr>
              <p:cNvCxnSpPr>
                <a:cxnSpLocks/>
              </p:cNvCxnSpPr>
              <p:nvPr/>
            </p:nvCxnSpPr>
            <p:spPr>
              <a:xfrm rot="10800000">
                <a:off x="7586269" y="2100394"/>
                <a:ext cx="0"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A243A50-A522-4461-B584-6AB87B56E32C}"/>
                  </a:ext>
                </a:extLst>
              </p:cNvPr>
              <p:cNvCxnSpPr>
                <a:cxnSpLocks/>
              </p:cNvCxnSpPr>
              <p:nvPr/>
            </p:nvCxnSpPr>
            <p:spPr>
              <a:xfrm rot="10800000">
                <a:off x="7387555" y="2100394"/>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5661652D-42B6-4595-9278-4703CE5D40FD}"/>
                </a:ext>
              </a:extLst>
            </p:cNvPr>
            <p:cNvGrpSpPr/>
            <p:nvPr/>
          </p:nvGrpSpPr>
          <p:grpSpPr>
            <a:xfrm>
              <a:off x="9449653" y="2582030"/>
              <a:ext cx="397429" cy="2265027"/>
              <a:chOff x="7382312" y="2100394"/>
              <a:chExt cx="397429" cy="2265027"/>
            </a:xfrm>
          </p:grpSpPr>
          <p:sp>
            <p:nvSpPr>
              <p:cNvPr id="51" name="Oval 50">
                <a:extLst>
                  <a:ext uri="{FF2B5EF4-FFF2-40B4-BE49-F238E27FC236}">
                    <a16:creationId xmlns:a16="http://schemas.microsoft.com/office/drawing/2014/main" id="{A28796BF-BBAA-4BAD-9AD6-F69270F9A6E4}"/>
                  </a:ext>
                </a:extLst>
              </p:cNvPr>
              <p:cNvSpPr/>
              <p:nvPr/>
            </p:nvSpPr>
            <p:spPr>
              <a:xfrm>
                <a:off x="7382312" y="3036815"/>
                <a:ext cx="392185" cy="39218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2" name="Straight Connector 51">
                <a:extLst>
                  <a:ext uri="{FF2B5EF4-FFF2-40B4-BE49-F238E27FC236}">
                    <a16:creationId xmlns:a16="http://schemas.microsoft.com/office/drawing/2014/main" id="{7B7575FD-56FC-46F4-AA2A-06DA07E24587}"/>
                  </a:ext>
                </a:extLst>
              </p:cNvPr>
              <p:cNvCxnSpPr>
                <a:stCxn id="51" idx="4"/>
              </p:cNvCxnSpPr>
              <p:nvPr/>
            </p:nvCxnSpPr>
            <p:spPr>
              <a:xfrm>
                <a:off x="7578405" y="3429000"/>
                <a:ext cx="5243" cy="7403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DFC4B50-3A1D-4AF4-B8A7-950A17EDDE3C}"/>
                  </a:ext>
                </a:extLst>
              </p:cNvPr>
              <p:cNvCxnSpPr/>
              <p:nvPr/>
            </p:nvCxnSpPr>
            <p:spPr>
              <a:xfrm flipH="1">
                <a:off x="7390176" y="4169328"/>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C7273AC-7E38-4ED8-9D53-1CA09EB39AE4}"/>
                  </a:ext>
                </a:extLst>
              </p:cNvPr>
              <p:cNvCxnSpPr/>
              <p:nvPr/>
            </p:nvCxnSpPr>
            <p:spPr>
              <a:xfrm>
                <a:off x="7583798" y="4169328"/>
                <a:ext cx="0"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C45AB38-92FE-4FF8-A380-6D38A6F0DBF3}"/>
                  </a:ext>
                </a:extLst>
              </p:cNvPr>
              <p:cNvCxnSpPr/>
              <p:nvPr/>
            </p:nvCxnSpPr>
            <p:spPr>
              <a:xfrm>
                <a:off x="7583648" y="4169328"/>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943D449-47C4-4EA1-828B-80AAE32C3C2A}"/>
                  </a:ext>
                </a:extLst>
              </p:cNvPr>
              <p:cNvCxnSpPr>
                <a:cxnSpLocks/>
              </p:cNvCxnSpPr>
              <p:nvPr/>
            </p:nvCxnSpPr>
            <p:spPr>
              <a:xfrm rot="10800000">
                <a:off x="7583648" y="2296487"/>
                <a:ext cx="5243" cy="7403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9B287F0-962B-431F-B6FB-2D76FA9AA5A8}"/>
                  </a:ext>
                </a:extLst>
              </p:cNvPr>
              <p:cNvCxnSpPr>
                <a:cxnSpLocks/>
              </p:cNvCxnSpPr>
              <p:nvPr/>
            </p:nvCxnSpPr>
            <p:spPr>
              <a:xfrm rot="10800000" flipH="1">
                <a:off x="7583647" y="2100394"/>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3524AE2-5563-4F49-B4BE-99065523ED91}"/>
                  </a:ext>
                </a:extLst>
              </p:cNvPr>
              <p:cNvCxnSpPr>
                <a:cxnSpLocks/>
              </p:cNvCxnSpPr>
              <p:nvPr/>
            </p:nvCxnSpPr>
            <p:spPr>
              <a:xfrm rot="10800000">
                <a:off x="7586269" y="2100394"/>
                <a:ext cx="0"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82C6E50-187C-4C38-B763-7EA8166F9A2C}"/>
                  </a:ext>
                </a:extLst>
              </p:cNvPr>
              <p:cNvCxnSpPr>
                <a:cxnSpLocks/>
              </p:cNvCxnSpPr>
              <p:nvPr/>
            </p:nvCxnSpPr>
            <p:spPr>
              <a:xfrm rot="10800000">
                <a:off x="7387555" y="2100394"/>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50814000-362F-4466-A4D1-942D33D09C62}"/>
                </a:ext>
              </a:extLst>
            </p:cNvPr>
            <p:cNvGrpSpPr/>
            <p:nvPr/>
          </p:nvGrpSpPr>
          <p:grpSpPr>
            <a:xfrm>
              <a:off x="10226746" y="2582030"/>
              <a:ext cx="397429" cy="2265027"/>
              <a:chOff x="7382312" y="2100394"/>
              <a:chExt cx="397429" cy="2265027"/>
            </a:xfrm>
          </p:grpSpPr>
          <p:sp>
            <p:nvSpPr>
              <p:cNvPr id="61" name="Oval 60">
                <a:extLst>
                  <a:ext uri="{FF2B5EF4-FFF2-40B4-BE49-F238E27FC236}">
                    <a16:creationId xmlns:a16="http://schemas.microsoft.com/office/drawing/2014/main" id="{D04CF897-C6B3-4E6A-BA8E-2FF0B32744F0}"/>
                  </a:ext>
                </a:extLst>
              </p:cNvPr>
              <p:cNvSpPr/>
              <p:nvPr/>
            </p:nvSpPr>
            <p:spPr>
              <a:xfrm>
                <a:off x="7382312" y="3036815"/>
                <a:ext cx="392185" cy="39218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2" name="Straight Connector 61">
                <a:extLst>
                  <a:ext uri="{FF2B5EF4-FFF2-40B4-BE49-F238E27FC236}">
                    <a16:creationId xmlns:a16="http://schemas.microsoft.com/office/drawing/2014/main" id="{F9589E42-B5EF-4EEC-A0DF-3426F0796F20}"/>
                  </a:ext>
                </a:extLst>
              </p:cNvPr>
              <p:cNvCxnSpPr>
                <a:stCxn id="61" idx="4"/>
              </p:cNvCxnSpPr>
              <p:nvPr/>
            </p:nvCxnSpPr>
            <p:spPr>
              <a:xfrm>
                <a:off x="7578405" y="3429000"/>
                <a:ext cx="5243" cy="7403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DB8EDC5-69C0-4BEC-9AD2-9903739745C4}"/>
                  </a:ext>
                </a:extLst>
              </p:cNvPr>
              <p:cNvCxnSpPr/>
              <p:nvPr/>
            </p:nvCxnSpPr>
            <p:spPr>
              <a:xfrm flipH="1">
                <a:off x="7390176" y="4169328"/>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57DB23A-5FAD-4541-A31F-F865C0BDD390}"/>
                  </a:ext>
                </a:extLst>
              </p:cNvPr>
              <p:cNvCxnSpPr/>
              <p:nvPr/>
            </p:nvCxnSpPr>
            <p:spPr>
              <a:xfrm>
                <a:off x="7583798" y="4169328"/>
                <a:ext cx="0"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F43DB3F-282D-4D32-B51C-8EC9DE92626E}"/>
                  </a:ext>
                </a:extLst>
              </p:cNvPr>
              <p:cNvCxnSpPr/>
              <p:nvPr/>
            </p:nvCxnSpPr>
            <p:spPr>
              <a:xfrm>
                <a:off x="7583648" y="4169328"/>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C7EBAD5-2614-49AD-935A-B00EAB7284A2}"/>
                  </a:ext>
                </a:extLst>
              </p:cNvPr>
              <p:cNvCxnSpPr>
                <a:cxnSpLocks/>
              </p:cNvCxnSpPr>
              <p:nvPr/>
            </p:nvCxnSpPr>
            <p:spPr>
              <a:xfrm rot="10800000">
                <a:off x="7583648" y="2296487"/>
                <a:ext cx="5243" cy="74032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16B8BD3E-BCEF-43F5-A9F5-AABFDF8575EB}"/>
                  </a:ext>
                </a:extLst>
              </p:cNvPr>
              <p:cNvCxnSpPr>
                <a:cxnSpLocks/>
              </p:cNvCxnSpPr>
              <p:nvPr/>
            </p:nvCxnSpPr>
            <p:spPr>
              <a:xfrm rot="10800000" flipH="1">
                <a:off x="7583647" y="2100394"/>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3793E40-2DA9-401B-B8E8-D79469819A8F}"/>
                  </a:ext>
                </a:extLst>
              </p:cNvPr>
              <p:cNvCxnSpPr>
                <a:cxnSpLocks/>
              </p:cNvCxnSpPr>
              <p:nvPr/>
            </p:nvCxnSpPr>
            <p:spPr>
              <a:xfrm rot="10800000">
                <a:off x="7586269" y="2100394"/>
                <a:ext cx="0"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42B1040-FF63-4D01-B8F9-DBD5D1A9E557}"/>
                  </a:ext>
                </a:extLst>
              </p:cNvPr>
              <p:cNvCxnSpPr>
                <a:cxnSpLocks/>
              </p:cNvCxnSpPr>
              <p:nvPr/>
            </p:nvCxnSpPr>
            <p:spPr>
              <a:xfrm rot="10800000">
                <a:off x="7387555" y="2100394"/>
                <a:ext cx="196093" cy="19609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1" name="TextBox 70">
              <a:extLst>
                <a:ext uri="{FF2B5EF4-FFF2-40B4-BE49-F238E27FC236}">
                  <a16:creationId xmlns:a16="http://schemas.microsoft.com/office/drawing/2014/main" id="{C454360A-9181-4C5F-A07E-8BF510AE083C}"/>
                </a:ext>
              </a:extLst>
            </p:cNvPr>
            <p:cNvSpPr txBox="1"/>
            <p:nvPr/>
          </p:nvSpPr>
          <p:spPr>
            <a:xfrm>
              <a:off x="6925460" y="1684158"/>
              <a:ext cx="3840731" cy="523220"/>
            </a:xfrm>
            <a:prstGeom prst="rect">
              <a:avLst/>
            </a:prstGeom>
            <a:noFill/>
          </p:spPr>
          <p:txBody>
            <a:bodyPr wrap="none" rtlCol="0">
              <a:spAutoFit/>
            </a:bodyPr>
            <a:lstStyle/>
            <a:p>
              <a:r>
                <a:rPr lang="en-GB" sz="2800" dirty="0"/>
                <a:t>What our models are like</a:t>
              </a:r>
            </a:p>
          </p:txBody>
        </p:sp>
      </p:grpSp>
      <p:sp>
        <p:nvSpPr>
          <p:cNvPr id="6" name="TextBox 5">
            <a:extLst>
              <a:ext uri="{FF2B5EF4-FFF2-40B4-BE49-F238E27FC236}">
                <a16:creationId xmlns:a16="http://schemas.microsoft.com/office/drawing/2014/main" id="{F0F9B7DB-ACAA-EABC-BD92-836B7977FD77}"/>
              </a:ext>
            </a:extLst>
          </p:cNvPr>
          <p:cNvSpPr txBox="1"/>
          <p:nvPr/>
        </p:nvSpPr>
        <p:spPr>
          <a:xfrm>
            <a:off x="7946842" y="4838036"/>
            <a:ext cx="1650580" cy="523220"/>
          </a:xfrm>
          <a:prstGeom prst="rect">
            <a:avLst/>
          </a:prstGeom>
          <a:noFill/>
        </p:spPr>
        <p:txBody>
          <a:bodyPr wrap="none" rtlCol="0">
            <a:spAutoFit/>
          </a:bodyPr>
          <a:lstStyle/>
          <a:p>
            <a:r>
              <a:rPr lang="en-GB" sz="2800" dirty="0"/>
              <a:t>This study</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D774C89-F299-159B-B3D9-F158E321E8D7}"/>
                  </a:ext>
                </a:extLst>
              </p:cNvPr>
              <p:cNvSpPr txBox="1"/>
              <p:nvPr/>
            </p:nvSpPr>
            <p:spPr>
              <a:xfrm>
                <a:off x="6022366" y="5408781"/>
                <a:ext cx="5930150" cy="1015663"/>
              </a:xfrm>
              <a:prstGeom prst="rect">
                <a:avLst/>
              </a:prstGeom>
              <a:noFill/>
            </p:spPr>
            <p:txBody>
              <a:bodyPr wrap="none" rtlCol="0">
                <a:spAutoFit/>
              </a:bodyPr>
              <a:lstStyle/>
              <a:p>
                <a:pPr algn="l"/>
                <a:r>
                  <a:rPr lang="en-GB" sz="2000" dirty="0"/>
                  <a:t>Replace single value of </a:t>
                </a:r>
                <a14:m>
                  <m:oMath xmlns:m="http://schemas.openxmlformats.org/officeDocument/2006/math">
                    <m:r>
                      <a:rPr lang="en-GB" sz="2000" b="0" i="1" smtClean="0">
                        <a:latin typeface="Cambria Math" panose="02040503050406030204" pitchFamily="18" charset="0"/>
                      </a:rPr>
                      <m:t>𝜏</m:t>
                    </m:r>
                  </m:oMath>
                </a14:m>
                <a:r>
                  <a:rPr lang="en-GB" sz="2000" dirty="0"/>
                  <a:t> with different for each neuron</a:t>
                </a:r>
              </a:p>
              <a:p>
                <a:pPr algn="l"/>
                <a:r>
                  <a:rPr lang="en-GB" sz="2000" dirty="0"/>
                  <a:t>Let the network learn </a:t>
                </a:r>
                <a14:m>
                  <m:oMath xmlns:m="http://schemas.openxmlformats.org/officeDocument/2006/math">
                    <m:r>
                      <a:rPr lang="en-GB" sz="2000" b="0" i="1" smtClean="0">
                        <a:latin typeface="Cambria Math" panose="02040503050406030204" pitchFamily="18" charset="0"/>
                      </a:rPr>
                      <m:t>𝜏</m:t>
                    </m:r>
                  </m:oMath>
                </a14:m>
                <a:r>
                  <a:rPr lang="en-GB" sz="2000" dirty="0"/>
                  <a:t> as well as weights</a:t>
                </a:r>
              </a:p>
              <a:p>
                <a:pPr algn="l"/>
                <a:r>
                  <a:rPr lang="en-GB" sz="2000" dirty="0"/>
                  <a:t>Compare performance on different tasks</a:t>
                </a:r>
              </a:p>
            </p:txBody>
          </p:sp>
        </mc:Choice>
        <mc:Fallback xmlns="">
          <p:sp>
            <p:nvSpPr>
              <p:cNvPr id="8" name="TextBox 7">
                <a:extLst>
                  <a:ext uri="{FF2B5EF4-FFF2-40B4-BE49-F238E27FC236}">
                    <a16:creationId xmlns:a16="http://schemas.microsoft.com/office/drawing/2014/main" id="{9D774C89-F299-159B-B3D9-F158E321E8D7}"/>
                  </a:ext>
                </a:extLst>
              </p:cNvPr>
              <p:cNvSpPr txBox="1">
                <a:spLocks noRot="1" noChangeAspect="1" noMove="1" noResize="1" noEditPoints="1" noAdjustHandles="1" noChangeArrowheads="1" noChangeShapeType="1" noTextEdit="1"/>
              </p:cNvSpPr>
              <p:nvPr/>
            </p:nvSpPr>
            <p:spPr>
              <a:xfrm>
                <a:off x="6022366" y="5408781"/>
                <a:ext cx="5930150" cy="1015663"/>
              </a:xfrm>
              <a:prstGeom prst="rect">
                <a:avLst/>
              </a:prstGeom>
              <a:blipFill>
                <a:blip r:embed="rId7"/>
                <a:stretch>
                  <a:fillRect l="-1131" t="-2994" r="-103" b="-9581"/>
                </a:stretch>
              </a:blipFill>
            </p:spPr>
            <p:txBody>
              <a:bodyPr/>
              <a:lstStyle/>
              <a:p>
                <a:r>
                  <a:rPr lang="en-GB">
                    <a:noFill/>
                  </a:rPr>
                  <a:t> </a:t>
                </a:r>
              </a:p>
            </p:txBody>
          </p:sp>
        </mc:Fallback>
      </mc:AlternateContent>
    </p:spTree>
    <p:extLst>
      <p:ext uri="{BB962C8B-B14F-4D97-AF65-F5344CB8AC3E}">
        <p14:creationId xmlns:p14="http://schemas.microsoft.com/office/powerpoint/2010/main" val="2574493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87E9F-83E6-4201-89F5-B029B77678F8}"/>
              </a:ext>
            </a:extLst>
          </p:cNvPr>
          <p:cNvSpPr>
            <a:spLocks noGrp="1"/>
          </p:cNvSpPr>
          <p:nvPr>
            <p:ph type="title"/>
          </p:nvPr>
        </p:nvSpPr>
        <p:spPr/>
        <p:txBody>
          <a:bodyPr/>
          <a:lstStyle/>
          <a:p>
            <a:r>
              <a:rPr lang="en-GB" dirty="0"/>
              <a:t>Methods: model architecture</a:t>
            </a:r>
          </a:p>
        </p:txBody>
      </p:sp>
      <p:pic>
        <p:nvPicPr>
          <p:cNvPr id="5" name="Picture 4">
            <a:extLst>
              <a:ext uri="{FF2B5EF4-FFF2-40B4-BE49-F238E27FC236}">
                <a16:creationId xmlns:a16="http://schemas.microsoft.com/office/drawing/2014/main" id="{1D1DF800-2EF1-43C2-843E-E9705219DCDD}"/>
              </a:ext>
            </a:extLst>
          </p:cNvPr>
          <p:cNvPicPr>
            <a:picLocks noChangeAspect="1"/>
          </p:cNvPicPr>
          <p:nvPr/>
        </p:nvPicPr>
        <p:blipFill>
          <a:blip r:embed="rId3"/>
          <a:stretch>
            <a:fillRect/>
          </a:stretch>
        </p:blipFill>
        <p:spPr>
          <a:xfrm>
            <a:off x="239484" y="1232807"/>
            <a:ext cx="11702143" cy="3808835"/>
          </a:xfrm>
          <a:prstGeom prst="rect">
            <a:avLst/>
          </a:prstGeom>
        </p:spPr>
      </p:pic>
    </p:spTree>
    <p:extLst>
      <p:ext uri="{BB962C8B-B14F-4D97-AF65-F5344CB8AC3E}">
        <p14:creationId xmlns:p14="http://schemas.microsoft.com/office/powerpoint/2010/main" val="3720083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1199C-4D5B-4DA9-A6EF-5E4ACAF27196}"/>
              </a:ext>
            </a:extLst>
          </p:cNvPr>
          <p:cNvSpPr>
            <a:spLocks noGrp="1"/>
          </p:cNvSpPr>
          <p:nvPr>
            <p:ph type="title"/>
          </p:nvPr>
        </p:nvSpPr>
        <p:spPr/>
        <p:txBody>
          <a:bodyPr/>
          <a:lstStyle/>
          <a:p>
            <a:r>
              <a:rPr lang="en-GB" dirty="0"/>
              <a:t>Methods: training</a:t>
            </a:r>
          </a:p>
        </p:txBody>
      </p:sp>
      <p:pic>
        <p:nvPicPr>
          <p:cNvPr id="5" name="Content Placeholder 4">
            <a:extLst>
              <a:ext uri="{FF2B5EF4-FFF2-40B4-BE49-F238E27FC236}">
                <a16:creationId xmlns:a16="http://schemas.microsoft.com/office/drawing/2014/main" id="{82D490B4-D9EB-4E1B-BDDD-0350BA5201EE}"/>
              </a:ext>
            </a:extLst>
          </p:cNvPr>
          <p:cNvPicPr>
            <a:picLocks noGrp="1" noChangeAspect="1"/>
          </p:cNvPicPr>
          <p:nvPr>
            <p:ph idx="1"/>
          </p:nvPr>
        </p:nvPicPr>
        <p:blipFill>
          <a:blip r:embed="rId3"/>
          <a:stretch>
            <a:fillRect/>
          </a:stretch>
        </p:blipFill>
        <p:spPr>
          <a:xfrm>
            <a:off x="250373" y="1165691"/>
            <a:ext cx="10700912" cy="4969576"/>
          </a:xfrm>
        </p:spPr>
      </p:pic>
    </p:spTree>
    <p:extLst>
      <p:ext uri="{BB962C8B-B14F-4D97-AF65-F5344CB8AC3E}">
        <p14:creationId xmlns:p14="http://schemas.microsoft.com/office/powerpoint/2010/main" val="1215021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Straight Arrow Connector 25">
            <a:extLst>
              <a:ext uri="{FF2B5EF4-FFF2-40B4-BE49-F238E27FC236}">
                <a16:creationId xmlns:a16="http://schemas.microsoft.com/office/drawing/2014/main" id="{DED7FB92-2CAA-4535-A8D9-88F5C5F0D00C}"/>
              </a:ext>
            </a:extLst>
          </p:cNvPr>
          <p:cNvCxnSpPr/>
          <p:nvPr/>
        </p:nvCxnSpPr>
        <p:spPr>
          <a:xfrm>
            <a:off x="457197" y="1510341"/>
            <a:ext cx="6764485" cy="0"/>
          </a:xfrm>
          <a:prstGeom prst="straightConnector1">
            <a:avLst/>
          </a:prstGeom>
          <a:ln w="127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AB77C78-954E-4CA7-B46D-960C077F44E7}"/>
              </a:ext>
            </a:extLst>
          </p:cNvPr>
          <p:cNvSpPr>
            <a:spLocks noGrp="1"/>
          </p:cNvSpPr>
          <p:nvPr>
            <p:ph type="title"/>
          </p:nvPr>
        </p:nvSpPr>
        <p:spPr/>
        <p:txBody>
          <a:bodyPr/>
          <a:lstStyle/>
          <a:p>
            <a:r>
              <a:rPr lang="en-GB" dirty="0"/>
              <a:t>Methods: tasks</a:t>
            </a:r>
          </a:p>
        </p:txBody>
      </p:sp>
      <p:pic>
        <p:nvPicPr>
          <p:cNvPr id="7" name="Picture 6" descr="Calendar&#10;&#10;Description automatically generated with medium confidence">
            <a:extLst>
              <a:ext uri="{FF2B5EF4-FFF2-40B4-BE49-F238E27FC236}">
                <a16:creationId xmlns:a16="http://schemas.microsoft.com/office/drawing/2014/main" id="{00805E9E-A829-4B37-996F-B23920C2CBD8}"/>
              </a:ext>
            </a:extLst>
          </p:cNvPr>
          <p:cNvPicPr>
            <a:picLocks noChangeAspect="1"/>
          </p:cNvPicPr>
          <p:nvPr/>
        </p:nvPicPr>
        <p:blipFill rotWithShape="1">
          <a:blip r:embed="rId3">
            <a:extLst>
              <a:ext uri="{28A0092B-C50C-407E-A947-70E740481C1C}">
                <a14:useLocalDpi xmlns:a14="http://schemas.microsoft.com/office/drawing/2010/main" val="0"/>
              </a:ext>
            </a:extLst>
          </a:blip>
          <a:srcRect l="61113" b="34506"/>
          <a:stretch/>
        </p:blipFill>
        <p:spPr>
          <a:xfrm>
            <a:off x="457197" y="2395688"/>
            <a:ext cx="2410691" cy="3589473"/>
          </a:xfrm>
          <a:prstGeom prst="rect">
            <a:avLst/>
          </a:prstGeom>
        </p:spPr>
      </p:pic>
      <p:sp>
        <p:nvSpPr>
          <p:cNvPr id="8" name="TextBox 7">
            <a:extLst>
              <a:ext uri="{FF2B5EF4-FFF2-40B4-BE49-F238E27FC236}">
                <a16:creationId xmlns:a16="http://schemas.microsoft.com/office/drawing/2014/main" id="{D2FBDE18-3A8C-464C-9FE2-F38C923639DE}"/>
              </a:ext>
            </a:extLst>
          </p:cNvPr>
          <p:cNvSpPr txBox="1"/>
          <p:nvPr/>
        </p:nvSpPr>
        <p:spPr>
          <a:xfrm>
            <a:off x="1150222" y="1864864"/>
            <a:ext cx="1306255" cy="461665"/>
          </a:xfrm>
          <a:prstGeom prst="rect">
            <a:avLst/>
          </a:prstGeom>
          <a:noFill/>
        </p:spPr>
        <p:txBody>
          <a:bodyPr wrap="none" rtlCol="0">
            <a:spAutoFit/>
          </a:bodyPr>
          <a:lstStyle/>
          <a:p>
            <a:r>
              <a:rPr lang="en-GB" sz="2400" dirty="0"/>
              <a:t>N-MNIST</a:t>
            </a:r>
          </a:p>
        </p:txBody>
      </p:sp>
      <p:pic>
        <p:nvPicPr>
          <p:cNvPr id="10" name="Picture 9" descr="A picture containing text&#10;&#10;Description automatically generated">
            <a:extLst>
              <a:ext uri="{FF2B5EF4-FFF2-40B4-BE49-F238E27FC236}">
                <a16:creationId xmlns:a16="http://schemas.microsoft.com/office/drawing/2014/main" id="{15558670-D0C0-4E14-822D-E5DAD0D66825}"/>
              </a:ext>
            </a:extLst>
          </p:cNvPr>
          <p:cNvPicPr>
            <a:picLocks noChangeAspect="1"/>
          </p:cNvPicPr>
          <p:nvPr/>
        </p:nvPicPr>
        <p:blipFill rotWithShape="1">
          <a:blip r:embed="rId4">
            <a:extLst>
              <a:ext uri="{28A0092B-C50C-407E-A947-70E740481C1C}">
                <a14:useLocalDpi xmlns:a14="http://schemas.microsoft.com/office/drawing/2010/main" val="0"/>
              </a:ext>
            </a:extLst>
          </a:blip>
          <a:srcRect l="-152" t="46652" r="73132"/>
          <a:stretch/>
        </p:blipFill>
        <p:spPr>
          <a:xfrm>
            <a:off x="3280061" y="2326530"/>
            <a:ext cx="1853045" cy="3658632"/>
          </a:xfrm>
          <a:prstGeom prst="rect">
            <a:avLst/>
          </a:prstGeom>
        </p:spPr>
      </p:pic>
      <p:sp>
        <p:nvSpPr>
          <p:cNvPr id="11" name="TextBox 10">
            <a:extLst>
              <a:ext uri="{FF2B5EF4-FFF2-40B4-BE49-F238E27FC236}">
                <a16:creationId xmlns:a16="http://schemas.microsoft.com/office/drawing/2014/main" id="{81B49840-0A7C-4C77-BFFC-487D24BB457F}"/>
              </a:ext>
            </a:extLst>
          </p:cNvPr>
          <p:cNvSpPr txBox="1"/>
          <p:nvPr/>
        </p:nvSpPr>
        <p:spPr>
          <a:xfrm>
            <a:off x="3411976" y="1864864"/>
            <a:ext cx="1248547" cy="461665"/>
          </a:xfrm>
          <a:prstGeom prst="rect">
            <a:avLst/>
          </a:prstGeom>
          <a:noFill/>
        </p:spPr>
        <p:txBody>
          <a:bodyPr wrap="none" rtlCol="0">
            <a:spAutoFit/>
          </a:bodyPr>
          <a:lstStyle/>
          <a:p>
            <a:r>
              <a:rPr lang="en-GB" sz="2400" dirty="0"/>
              <a:t>F-MNIST</a:t>
            </a:r>
          </a:p>
        </p:txBody>
      </p:sp>
      <p:graphicFrame>
        <p:nvGraphicFramePr>
          <p:cNvPr id="14" name="Object 13">
            <a:extLst>
              <a:ext uri="{FF2B5EF4-FFF2-40B4-BE49-F238E27FC236}">
                <a16:creationId xmlns:a16="http://schemas.microsoft.com/office/drawing/2014/main" id="{A49F0129-A126-4FFA-BB35-4159B33122F8}"/>
              </a:ext>
            </a:extLst>
          </p:cNvPr>
          <p:cNvGraphicFramePr>
            <a:graphicFrameLocks noChangeAspect="1"/>
          </p:cNvGraphicFramePr>
          <p:nvPr/>
        </p:nvGraphicFramePr>
        <p:xfrm>
          <a:off x="5545279" y="2326529"/>
          <a:ext cx="1290874" cy="3864695"/>
        </p:xfrm>
        <a:graphic>
          <a:graphicData uri="http://schemas.openxmlformats.org/presentationml/2006/ole">
            <mc:AlternateContent xmlns:mc="http://schemas.openxmlformats.org/markup-compatibility/2006">
              <mc:Choice xmlns:v="urn:schemas-microsoft-com:vml" Requires="v">
                <p:oleObj name="Image" r:id="rId5" imgW="3504600" imgH="10463400" progId="Photoshop.Image.13">
                  <p:embed/>
                </p:oleObj>
              </mc:Choice>
              <mc:Fallback>
                <p:oleObj name="Image" r:id="rId5" imgW="3504600" imgH="10463400" progId="Photoshop.Image.13">
                  <p:embed/>
                  <p:pic>
                    <p:nvPicPr>
                      <p:cNvPr id="14" name="Object 13">
                        <a:extLst>
                          <a:ext uri="{FF2B5EF4-FFF2-40B4-BE49-F238E27FC236}">
                            <a16:creationId xmlns:a16="http://schemas.microsoft.com/office/drawing/2014/main" id="{A49F0129-A126-4FFA-BB35-4159B33122F8}"/>
                          </a:ext>
                        </a:extLst>
                      </p:cNvPr>
                      <p:cNvPicPr/>
                      <p:nvPr/>
                    </p:nvPicPr>
                    <p:blipFill>
                      <a:blip r:embed="rId6"/>
                      <a:stretch>
                        <a:fillRect/>
                      </a:stretch>
                    </p:blipFill>
                    <p:spPr>
                      <a:xfrm>
                        <a:off x="5545279" y="2326529"/>
                        <a:ext cx="1290874" cy="3864695"/>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939B5D03-2C1B-4CF6-BD75-B7FFAD2E7799}"/>
              </a:ext>
            </a:extLst>
          </p:cNvPr>
          <p:cNvSpPr txBox="1"/>
          <p:nvPr/>
        </p:nvSpPr>
        <p:spPr>
          <a:xfrm>
            <a:off x="5566442" y="1864863"/>
            <a:ext cx="1150700" cy="461665"/>
          </a:xfrm>
          <a:prstGeom prst="rect">
            <a:avLst/>
          </a:prstGeom>
          <a:noFill/>
        </p:spPr>
        <p:txBody>
          <a:bodyPr wrap="none" rtlCol="0">
            <a:spAutoFit/>
          </a:bodyPr>
          <a:lstStyle/>
          <a:p>
            <a:r>
              <a:rPr lang="en-GB" sz="2400" dirty="0"/>
              <a:t>DVS128</a:t>
            </a:r>
          </a:p>
        </p:txBody>
      </p:sp>
      <p:graphicFrame>
        <p:nvGraphicFramePr>
          <p:cNvPr id="16" name="Object 15">
            <a:extLst>
              <a:ext uri="{FF2B5EF4-FFF2-40B4-BE49-F238E27FC236}">
                <a16:creationId xmlns:a16="http://schemas.microsoft.com/office/drawing/2014/main" id="{87669689-B773-49E0-AC1C-E0B17BFA08AD}"/>
              </a:ext>
            </a:extLst>
          </p:cNvPr>
          <p:cNvGraphicFramePr>
            <a:graphicFrameLocks noChangeAspect="1"/>
          </p:cNvGraphicFramePr>
          <p:nvPr/>
        </p:nvGraphicFramePr>
        <p:xfrm>
          <a:off x="7569865" y="3704885"/>
          <a:ext cx="4199660" cy="1454428"/>
        </p:xfrm>
        <a:graphic>
          <a:graphicData uri="http://schemas.openxmlformats.org/presentationml/2006/ole">
            <mc:AlternateContent xmlns:mc="http://schemas.openxmlformats.org/markup-compatibility/2006">
              <mc:Choice xmlns:v="urn:schemas-microsoft-com:vml" Requires="v">
                <p:oleObj name="Image" r:id="rId7" imgW="9168120" imgH="3174480" progId="Photoshop.Image.13">
                  <p:embed/>
                </p:oleObj>
              </mc:Choice>
              <mc:Fallback>
                <p:oleObj name="Image" r:id="rId7" imgW="9168120" imgH="3174480" progId="Photoshop.Image.13">
                  <p:embed/>
                  <p:pic>
                    <p:nvPicPr>
                      <p:cNvPr id="16" name="Object 15">
                        <a:extLst>
                          <a:ext uri="{FF2B5EF4-FFF2-40B4-BE49-F238E27FC236}">
                            <a16:creationId xmlns:a16="http://schemas.microsoft.com/office/drawing/2014/main" id="{87669689-B773-49E0-AC1C-E0B17BFA08AD}"/>
                          </a:ext>
                        </a:extLst>
                      </p:cNvPr>
                      <p:cNvPicPr/>
                      <p:nvPr/>
                    </p:nvPicPr>
                    <p:blipFill>
                      <a:blip r:embed="rId8"/>
                      <a:stretch>
                        <a:fillRect/>
                      </a:stretch>
                    </p:blipFill>
                    <p:spPr>
                      <a:xfrm>
                        <a:off x="7569865" y="3704885"/>
                        <a:ext cx="4199660" cy="1454428"/>
                      </a:xfrm>
                      <a:prstGeom prst="rect">
                        <a:avLst/>
                      </a:prstGeom>
                    </p:spPr>
                  </p:pic>
                </p:oleObj>
              </mc:Fallback>
            </mc:AlternateContent>
          </a:graphicData>
        </a:graphic>
      </p:graphicFrame>
      <p:sp>
        <p:nvSpPr>
          <p:cNvPr id="17" name="TextBox 16">
            <a:extLst>
              <a:ext uri="{FF2B5EF4-FFF2-40B4-BE49-F238E27FC236}">
                <a16:creationId xmlns:a16="http://schemas.microsoft.com/office/drawing/2014/main" id="{6B51DAE0-54B5-4702-B965-06837F5E0A90}"/>
              </a:ext>
            </a:extLst>
          </p:cNvPr>
          <p:cNvSpPr txBox="1"/>
          <p:nvPr/>
        </p:nvSpPr>
        <p:spPr>
          <a:xfrm>
            <a:off x="8788684" y="1864863"/>
            <a:ext cx="1762021" cy="461665"/>
          </a:xfrm>
          <a:prstGeom prst="rect">
            <a:avLst/>
          </a:prstGeom>
          <a:noFill/>
        </p:spPr>
        <p:txBody>
          <a:bodyPr wrap="none" rtlCol="0">
            <a:spAutoFit/>
          </a:bodyPr>
          <a:lstStyle/>
          <a:p>
            <a:r>
              <a:rPr lang="en-GB" sz="2400" dirty="0"/>
              <a:t>SHD and SSC</a:t>
            </a:r>
          </a:p>
        </p:txBody>
      </p:sp>
      <p:sp>
        <p:nvSpPr>
          <p:cNvPr id="20" name="TextBox 19">
            <a:extLst>
              <a:ext uri="{FF2B5EF4-FFF2-40B4-BE49-F238E27FC236}">
                <a16:creationId xmlns:a16="http://schemas.microsoft.com/office/drawing/2014/main" id="{CFBF0B92-A77B-49A1-B782-D6729B114084}"/>
              </a:ext>
            </a:extLst>
          </p:cNvPr>
          <p:cNvSpPr txBox="1"/>
          <p:nvPr/>
        </p:nvSpPr>
        <p:spPr>
          <a:xfrm>
            <a:off x="3383121" y="1279509"/>
            <a:ext cx="930063" cy="461665"/>
          </a:xfrm>
          <a:prstGeom prst="rect">
            <a:avLst/>
          </a:prstGeom>
          <a:solidFill>
            <a:schemeClr val="bg1"/>
          </a:solidFill>
        </p:spPr>
        <p:txBody>
          <a:bodyPr wrap="none" rtlCol="0">
            <a:spAutoFit/>
          </a:bodyPr>
          <a:lstStyle/>
          <a:p>
            <a:r>
              <a:rPr lang="en-GB" sz="2400" dirty="0"/>
              <a:t>Visual</a:t>
            </a:r>
          </a:p>
        </p:txBody>
      </p:sp>
      <p:sp>
        <p:nvSpPr>
          <p:cNvPr id="21" name="TextBox 20">
            <a:extLst>
              <a:ext uri="{FF2B5EF4-FFF2-40B4-BE49-F238E27FC236}">
                <a16:creationId xmlns:a16="http://schemas.microsoft.com/office/drawing/2014/main" id="{5C0C5BA7-C0A0-4FF1-B4EE-750A206C71DA}"/>
              </a:ext>
            </a:extLst>
          </p:cNvPr>
          <p:cNvSpPr txBox="1"/>
          <p:nvPr/>
        </p:nvSpPr>
        <p:spPr>
          <a:xfrm>
            <a:off x="9036315" y="1279509"/>
            <a:ext cx="1266757" cy="461665"/>
          </a:xfrm>
          <a:prstGeom prst="rect">
            <a:avLst/>
          </a:prstGeom>
          <a:noFill/>
        </p:spPr>
        <p:txBody>
          <a:bodyPr wrap="none" rtlCol="0">
            <a:spAutoFit/>
          </a:bodyPr>
          <a:lstStyle/>
          <a:p>
            <a:r>
              <a:rPr lang="en-GB" sz="2400" dirty="0"/>
              <a:t>Auditory</a:t>
            </a:r>
          </a:p>
        </p:txBody>
      </p:sp>
      <p:cxnSp>
        <p:nvCxnSpPr>
          <p:cNvPr id="23" name="Straight Arrow Connector 22">
            <a:extLst>
              <a:ext uri="{FF2B5EF4-FFF2-40B4-BE49-F238E27FC236}">
                <a16:creationId xmlns:a16="http://schemas.microsoft.com/office/drawing/2014/main" id="{B3626B98-4D31-4D3E-92BC-70F61ECEEA77}"/>
              </a:ext>
            </a:extLst>
          </p:cNvPr>
          <p:cNvCxnSpPr/>
          <p:nvPr/>
        </p:nvCxnSpPr>
        <p:spPr>
          <a:xfrm>
            <a:off x="457197" y="6452755"/>
            <a:ext cx="11312328" cy="0"/>
          </a:xfrm>
          <a:prstGeom prst="straightConnector1">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13D807B-DE05-45D7-A1C0-612DD19B1471}"/>
              </a:ext>
            </a:extLst>
          </p:cNvPr>
          <p:cNvSpPr txBox="1"/>
          <p:nvPr/>
        </p:nvSpPr>
        <p:spPr>
          <a:xfrm>
            <a:off x="7732463" y="5991090"/>
            <a:ext cx="3874459" cy="461665"/>
          </a:xfrm>
          <a:prstGeom prst="rect">
            <a:avLst/>
          </a:prstGeom>
          <a:noFill/>
        </p:spPr>
        <p:txBody>
          <a:bodyPr wrap="none" rtlCol="0">
            <a:spAutoFit/>
          </a:bodyPr>
          <a:lstStyle/>
          <a:p>
            <a:r>
              <a:rPr lang="en-GB" sz="2400" dirty="0"/>
              <a:t>Increasing temporal structure</a:t>
            </a:r>
          </a:p>
        </p:txBody>
      </p:sp>
    </p:spTree>
    <p:extLst>
      <p:ext uri="{BB962C8B-B14F-4D97-AF65-F5344CB8AC3E}">
        <p14:creationId xmlns:p14="http://schemas.microsoft.com/office/powerpoint/2010/main" val="3144650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1EB74-BE48-4916-B2BE-15EEC78A26D3}"/>
              </a:ext>
            </a:extLst>
          </p:cNvPr>
          <p:cNvSpPr>
            <a:spLocks noGrp="1"/>
          </p:cNvSpPr>
          <p:nvPr>
            <p:ph type="title"/>
          </p:nvPr>
        </p:nvSpPr>
        <p:spPr/>
        <p:txBody>
          <a:bodyPr/>
          <a:lstStyle/>
          <a:p>
            <a:r>
              <a:rPr lang="en-GB" dirty="0"/>
              <a:t>Results: performance</a:t>
            </a:r>
          </a:p>
        </p:txBody>
      </p:sp>
      <p:graphicFrame>
        <p:nvGraphicFramePr>
          <p:cNvPr id="6" name="Object 5">
            <a:extLst>
              <a:ext uri="{FF2B5EF4-FFF2-40B4-BE49-F238E27FC236}">
                <a16:creationId xmlns:a16="http://schemas.microsoft.com/office/drawing/2014/main" id="{E2D2D10C-C914-4635-B27A-06E848713B91}"/>
              </a:ext>
            </a:extLst>
          </p:cNvPr>
          <p:cNvGraphicFramePr>
            <a:graphicFrameLocks noChangeAspect="1"/>
          </p:cNvGraphicFramePr>
          <p:nvPr/>
        </p:nvGraphicFramePr>
        <p:xfrm>
          <a:off x="3941223" y="3740727"/>
          <a:ext cx="8250778" cy="3101071"/>
        </p:xfrm>
        <a:graphic>
          <a:graphicData uri="http://schemas.openxmlformats.org/presentationml/2006/ole">
            <mc:AlternateContent xmlns:mc="http://schemas.openxmlformats.org/markup-compatibility/2006">
              <mc:Choice xmlns:v="urn:schemas-microsoft-com:vml" Requires="v">
                <p:oleObj name="Image" r:id="rId3" imgW="12926880" imgH="4850640" progId="Photoshop.Image.13">
                  <p:embed/>
                </p:oleObj>
              </mc:Choice>
              <mc:Fallback>
                <p:oleObj name="Image" r:id="rId3" imgW="12926880" imgH="4850640" progId="Photoshop.Image.13">
                  <p:embed/>
                  <p:pic>
                    <p:nvPicPr>
                      <p:cNvPr id="6" name="Object 5">
                        <a:extLst>
                          <a:ext uri="{FF2B5EF4-FFF2-40B4-BE49-F238E27FC236}">
                            <a16:creationId xmlns:a16="http://schemas.microsoft.com/office/drawing/2014/main" id="{E2D2D10C-C914-4635-B27A-06E848713B91}"/>
                          </a:ext>
                        </a:extLst>
                      </p:cNvPr>
                      <p:cNvPicPr/>
                      <p:nvPr/>
                    </p:nvPicPr>
                    <p:blipFill>
                      <a:blip r:embed="rId4"/>
                      <a:stretch>
                        <a:fillRect/>
                      </a:stretch>
                    </p:blipFill>
                    <p:spPr>
                      <a:xfrm>
                        <a:off x="3941223" y="3740727"/>
                        <a:ext cx="8250778" cy="3101071"/>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54C9B5AF-1E06-4FBA-A3EC-68C4B45BA6B6}"/>
              </a:ext>
            </a:extLst>
          </p:cNvPr>
          <p:cNvGraphicFramePr>
            <a:graphicFrameLocks noChangeAspect="1"/>
          </p:cNvGraphicFramePr>
          <p:nvPr/>
        </p:nvGraphicFramePr>
        <p:xfrm>
          <a:off x="1889992" y="3959659"/>
          <a:ext cx="1885492" cy="1391659"/>
        </p:xfrm>
        <a:graphic>
          <a:graphicData uri="http://schemas.openxmlformats.org/presentationml/2006/ole">
            <mc:AlternateContent xmlns:mc="http://schemas.openxmlformats.org/markup-compatibility/2006">
              <mc:Choice xmlns:v="urn:schemas-microsoft-com:vml" Requires="v">
                <p:oleObj name="Image" r:id="rId5" imgW="5231520" imgH="3860280" progId="Photoshop.Image.13">
                  <p:embed/>
                </p:oleObj>
              </mc:Choice>
              <mc:Fallback>
                <p:oleObj name="Image" r:id="rId5" imgW="5231520" imgH="3860280" progId="Photoshop.Image.13">
                  <p:embed/>
                  <p:pic>
                    <p:nvPicPr>
                      <p:cNvPr id="7" name="Object 6">
                        <a:extLst>
                          <a:ext uri="{FF2B5EF4-FFF2-40B4-BE49-F238E27FC236}">
                            <a16:creationId xmlns:a16="http://schemas.microsoft.com/office/drawing/2014/main" id="{54C9B5AF-1E06-4FBA-A3EC-68C4B45BA6B6}"/>
                          </a:ext>
                        </a:extLst>
                      </p:cNvPr>
                      <p:cNvPicPr/>
                      <p:nvPr/>
                    </p:nvPicPr>
                    <p:blipFill>
                      <a:blip r:embed="rId6"/>
                      <a:stretch>
                        <a:fillRect/>
                      </a:stretch>
                    </p:blipFill>
                    <p:spPr>
                      <a:xfrm>
                        <a:off x="1889992" y="3959659"/>
                        <a:ext cx="1885492" cy="1391659"/>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C4C2B895-793A-4982-8CA3-A3A1F8EB40A3}"/>
              </a:ext>
            </a:extLst>
          </p:cNvPr>
          <p:cNvGraphicFramePr>
            <a:graphicFrameLocks noChangeAspect="1"/>
          </p:cNvGraphicFramePr>
          <p:nvPr/>
        </p:nvGraphicFramePr>
        <p:xfrm>
          <a:off x="0" y="987714"/>
          <a:ext cx="12192000" cy="2643188"/>
        </p:xfrm>
        <a:graphic>
          <a:graphicData uri="http://schemas.openxmlformats.org/presentationml/2006/ole">
            <mc:AlternateContent xmlns:mc="http://schemas.openxmlformats.org/markup-compatibility/2006">
              <mc:Choice xmlns:v="urn:schemas-microsoft-com:vml" Requires="v">
                <p:oleObj name="Image" r:id="rId7" imgW="16253640" imgH="3517200" progId="Photoshop.Image.13">
                  <p:embed/>
                </p:oleObj>
              </mc:Choice>
              <mc:Fallback>
                <p:oleObj name="Image" r:id="rId7" imgW="16253640" imgH="3517200" progId="Photoshop.Image.13">
                  <p:embed/>
                  <p:pic>
                    <p:nvPicPr>
                      <p:cNvPr id="10" name="Object 9">
                        <a:extLst>
                          <a:ext uri="{FF2B5EF4-FFF2-40B4-BE49-F238E27FC236}">
                            <a16:creationId xmlns:a16="http://schemas.microsoft.com/office/drawing/2014/main" id="{C4C2B895-793A-4982-8CA3-A3A1F8EB40A3}"/>
                          </a:ext>
                        </a:extLst>
                      </p:cNvPr>
                      <p:cNvPicPr/>
                      <p:nvPr/>
                    </p:nvPicPr>
                    <p:blipFill>
                      <a:blip r:embed="rId8"/>
                      <a:stretch>
                        <a:fillRect/>
                      </a:stretch>
                    </p:blipFill>
                    <p:spPr>
                      <a:xfrm>
                        <a:off x="0" y="987714"/>
                        <a:ext cx="12192000" cy="2643188"/>
                      </a:xfrm>
                      <a:prstGeom prst="rect">
                        <a:avLst/>
                      </a:prstGeom>
                    </p:spPr>
                  </p:pic>
                </p:oleObj>
              </mc:Fallback>
            </mc:AlternateContent>
          </a:graphicData>
        </a:graphic>
      </p:graphicFrame>
    </p:spTree>
    <p:extLst>
      <p:ext uri="{BB962C8B-B14F-4D97-AF65-F5344CB8AC3E}">
        <p14:creationId xmlns:p14="http://schemas.microsoft.com/office/powerpoint/2010/main" val="129687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66973-EDF5-4458-981D-A232E2BB8CE5}"/>
              </a:ext>
            </a:extLst>
          </p:cNvPr>
          <p:cNvSpPr>
            <a:spLocks noGrp="1"/>
          </p:cNvSpPr>
          <p:nvPr>
            <p:ph type="title"/>
          </p:nvPr>
        </p:nvSpPr>
        <p:spPr/>
        <p:txBody>
          <a:bodyPr/>
          <a:lstStyle/>
          <a:p>
            <a:r>
              <a:rPr lang="en-GB" dirty="0"/>
              <a:t>Results: distribution of time constants</a:t>
            </a:r>
          </a:p>
        </p:txBody>
      </p:sp>
      <p:graphicFrame>
        <p:nvGraphicFramePr>
          <p:cNvPr id="5" name="Object 4">
            <a:extLst>
              <a:ext uri="{FF2B5EF4-FFF2-40B4-BE49-F238E27FC236}">
                <a16:creationId xmlns:a16="http://schemas.microsoft.com/office/drawing/2014/main" id="{DEA2D9A0-2D4B-4FF6-B3F1-062A92F4A07F}"/>
              </a:ext>
            </a:extLst>
          </p:cNvPr>
          <p:cNvGraphicFramePr>
            <a:graphicFrameLocks noChangeAspect="1"/>
          </p:cNvGraphicFramePr>
          <p:nvPr/>
        </p:nvGraphicFramePr>
        <p:xfrm>
          <a:off x="1832762" y="1111395"/>
          <a:ext cx="10119754" cy="4965004"/>
        </p:xfrm>
        <a:graphic>
          <a:graphicData uri="http://schemas.openxmlformats.org/presentationml/2006/ole">
            <mc:AlternateContent xmlns:mc="http://schemas.openxmlformats.org/markup-compatibility/2006">
              <mc:Choice xmlns:v="urn:schemas-microsoft-com:vml" Requires="v">
                <p:oleObj name="Image" r:id="rId3" imgW="17447400" imgH="8558640" progId="Photoshop.Image.13">
                  <p:embed/>
                </p:oleObj>
              </mc:Choice>
              <mc:Fallback>
                <p:oleObj name="Image" r:id="rId3" imgW="17447400" imgH="8558640" progId="Photoshop.Image.13">
                  <p:embed/>
                  <p:pic>
                    <p:nvPicPr>
                      <p:cNvPr id="5" name="Object 4">
                        <a:extLst>
                          <a:ext uri="{FF2B5EF4-FFF2-40B4-BE49-F238E27FC236}">
                            <a16:creationId xmlns:a16="http://schemas.microsoft.com/office/drawing/2014/main" id="{DEA2D9A0-2D4B-4FF6-B3F1-062A92F4A07F}"/>
                          </a:ext>
                        </a:extLst>
                      </p:cNvPr>
                      <p:cNvPicPr/>
                      <p:nvPr/>
                    </p:nvPicPr>
                    <p:blipFill>
                      <a:blip r:embed="rId4"/>
                      <a:stretch>
                        <a:fillRect/>
                      </a:stretch>
                    </p:blipFill>
                    <p:spPr>
                      <a:xfrm>
                        <a:off x="1832762" y="1111395"/>
                        <a:ext cx="10119754" cy="4965004"/>
                      </a:xfrm>
                      <a:prstGeom prst="rect">
                        <a:avLst/>
                      </a:prstGeom>
                    </p:spPr>
                  </p:pic>
                </p:oleObj>
              </mc:Fallback>
            </mc:AlternateContent>
          </a:graphicData>
        </a:graphic>
      </p:graphicFrame>
    </p:spTree>
    <p:extLst>
      <p:ext uri="{BB962C8B-B14F-4D97-AF65-F5344CB8AC3E}">
        <p14:creationId xmlns:p14="http://schemas.microsoft.com/office/powerpoint/2010/main" val="2077219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3D726-2D77-8254-18F8-3851DDD555BA}"/>
              </a:ext>
            </a:extLst>
          </p:cNvPr>
          <p:cNvSpPr>
            <a:spLocks noGrp="1"/>
          </p:cNvSpPr>
          <p:nvPr>
            <p:ph type="title"/>
          </p:nvPr>
        </p:nvSpPr>
        <p:spPr/>
        <p:txBody>
          <a:bodyPr/>
          <a:lstStyle/>
          <a:p>
            <a:r>
              <a:rPr lang="en-GB" dirty="0"/>
              <a:t>The conclusions we want to make</a:t>
            </a:r>
          </a:p>
        </p:txBody>
      </p:sp>
      <p:sp>
        <p:nvSpPr>
          <p:cNvPr id="3" name="Content Placeholder 2">
            <a:extLst>
              <a:ext uri="{FF2B5EF4-FFF2-40B4-BE49-F238E27FC236}">
                <a16:creationId xmlns:a16="http://schemas.microsoft.com/office/drawing/2014/main" id="{DB6998BA-F28B-E5B9-0FBD-360E93C7F52E}"/>
              </a:ext>
            </a:extLst>
          </p:cNvPr>
          <p:cNvSpPr>
            <a:spLocks noGrp="1"/>
          </p:cNvSpPr>
          <p:nvPr>
            <p:ph idx="1"/>
          </p:nvPr>
        </p:nvSpPr>
        <p:spPr/>
        <p:txBody>
          <a:bodyPr/>
          <a:lstStyle/>
          <a:p>
            <a:pPr marL="0" indent="0">
              <a:buNone/>
            </a:pPr>
            <a:r>
              <a:rPr lang="en-GB" dirty="0"/>
              <a:t>Would like to conclude that:</a:t>
            </a:r>
          </a:p>
          <a:p>
            <a:r>
              <a:rPr lang="en-GB" dirty="0"/>
              <a:t>Heterogeneity is valuable in terms of task performance, energy efficiency, robustness</a:t>
            </a:r>
          </a:p>
          <a:p>
            <a:r>
              <a:rPr lang="en-GB" dirty="0"/>
              <a:t>Likely that the brain makes use of heterogeneity in these ways</a:t>
            </a:r>
          </a:p>
          <a:p>
            <a:r>
              <a:rPr lang="en-GB" dirty="0"/>
              <a:t>Possible that evolution has (optimally) tuned heterogeneity for this</a:t>
            </a:r>
          </a:p>
        </p:txBody>
      </p:sp>
    </p:spTree>
    <p:extLst>
      <p:ext uri="{BB962C8B-B14F-4D97-AF65-F5344CB8AC3E}">
        <p14:creationId xmlns:p14="http://schemas.microsoft.com/office/powerpoint/2010/main" val="3624522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1DE7D-B51F-FCE2-F1A5-63AE3C469F33}"/>
              </a:ext>
            </a:extLst>
          </p:cNvPr>
          <p:cNvSpPr>
            <a:spLocks noGrp="1"/>
          </p:cNvSpPr>
          <p:nvPr>
            <p:ph type="title"/>
          </p:nvPr>
        </p:nvSpPr>
        <p:spPr/>
        <p:txBody>
          <a:bodyPr/>
          <a:lstStyle/>
          <a:p>
            <a:r>
              <a:rPr lang="en-GB" dirty="0"/>
              <a:t>But can we make these conclusions?</a:t>
            </a:r>
          </a:p>
        </p:txBody>
      </p:sp>
      <p:sp>
        <p:nvSpPr>
          <p:cNvPr id="3" name="Content Placeholder 2">
            <a:extLst>
              <a:ext uri="{FF2B5EF4-FFF2-40B4-BE49-F238E27FC236}">
                <a16:creationId xmlns:a16="http://schemas.microsoft.com/office/drawing/2014/main" id="{D40920DD-011A-679E-C787-70472AA1627B}"/>
              </a:ext>
            </a:extLst>
          </p:cNvPr>
          <p:cNvSpPr>
            <a:spLocks noGrp="1"/>
          </p:cNvSpPr>
          <p:nvPr>
            <p:ph idx="1"/>
          </p:nvPr>
        </p:nvSpPr>
        <p:spPr/>
        <p:txBody>
          <a:bodyPr/>
          <a:lstStyle/>
          <a:p>
            <a:pPr marL="0" indent="0">
              <a:buNone/>
            </a:pPr>
            <a:r>
              <a:rPr lang="en-GB" dirty="0"/>
              <a:t>Would like to conclude that:</a:t>
            </a:r>
          </a:p>
          <a:p>
            <a:r>
              <a:rPr lang="en-GB" dirty="0"/>
              <a:t>Heterogeneity is valuable in terms of task performance, energy efficiency, robustness</a:t>
            </a:r>
          </a:p>
          <a:p>
            <a:r>
              <a:rPr lang="en-GB" dirty="0"/>
              <a:t>Likely that the brain makes use of heterogeneity in these ways</a:t>
            </a:r>
          </a:p>
          <a:p>
            <a:r>
              <a:rPr lang="en-GB" dirty="0"/>
              <a:t>Possible that evolution has (optimally) tuned heterogeneity for this</a:t>
            </a:r>
          </a:p>
          <a:p>
            <a:pPr marL="0" indent="0">
              <a:buNone/>
            </a:pPr>
            <a:endParaRPr lang="en-GB" dirty="0"/>
          </a:p>
          <a:p>
            <a:pPr marL="0" indent="0">
              <a:buNone/>
            </a:pPr>
            <a:r>
              <a:rPr lang="en-GB" dirty="0"/>
              <a:t>But:</a:t>
            </a:r>
          </a:p>
          <a:p>
            <a:r>
              <a:rPr lang="en-GB" dirty="0"/>
              <a:t>How much does it matter that we only try one architecture?</a:t>
            </a:r>
          </a:p>
          <a:p>
            <a:r>
              <a:rPr lang="en-GB" dirty="0"/>
              <a:t>Only 5 tasks?</a:t>
            </a:r>
          </a:p>
          <a:p>
            <a:r>
              <a:rPr lang="en-GB" dirty="0"/>
              <a:t>The brain has to do a lot more than this!</a:t>
            </a:r>
          </a:p>
          <a:p>
            <a:r>
              <a:rPr lang="en-GB" dirty="0"/>
              <a:t>But what else can we do apart from limited tests such as these?</a:t>
            </a:r>
          </a:p>
        </p:txBody>
      </p:sp>
    </p:spTree>
    <p:extLst>
      <p:ext uri="{BB962C8B-B14F-4D97-AF65-F5344CB8AC3E}">
        <p14:creationId xmlns:p14="http://schemas.microsoft.com/office/powerpoint/2010/main" val="3058400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CDA5F-DE96-0220-53D4-518B10660A94}"/>
              </a:ext>
            </a:extLst>
          </p:cNvPr>
          <p:cNvSpPr>
            <a:spLocks noGrp="1"/>
          </p:cNvSpPr>
          <p:nvPr>
            <p:ph type="title"/>
          </p:nvPr>
        </p:nvSpPr>
        <p:spPr/>
        <p:txBody>
          <a:bodyPr/>
          <a:lstStyle/>
          <a:p>
            <a:r>
              <a:rPr lang="en-GB" dirty="0"/>
              <a:t>But can we make these conclusions?</a:t>
            </a:r>
          </a:p>
        </p:txBody>
      </p:sp>
      <p:sp>
        <p:nvSpPr>
          <p:cNvPr id="3" name="Content Placeholder 2">
            <a:extLst>
              <a:ext uri="{FF2B5EF4-FFF2-40B4-BE49-F238E27FC236}">
                <a16:creationId xmlns:a16="http://schemas.microsoft.com/office/drawing/2014/main" id="{A7FC76EF-FD6F-63AE-38A4-4F9C0E752C69}"/>
              </a:ext>
            </a:extLst>
          </p:cNvPr>
          <p:cNvSpPr>
            <a:spLocks noGrp="1"/>
          </p:cNvSpPr>
          <p:nvPr>
            <p:ph idx="1"/>
          </p:nvPr>
        </p:nvSpPr>
        <p:spPr/>
        <p:txBody>
          <a:bodyPr/>
          <a:lstStyle/>
          <a:p>
            <a:pPr marL="0" indent="0">
              <a:buNone/>
            </a:pPr>
            <a:r>
              <a:rPr lang="en-GB" dirty="0"/>
              <a:t>Would like to conclude that:</a:t>
            </a:r>
          </a:p>
          <a:p>
            <a:r>
              <a:rPr lang="en-GB" dirty="0"/>
              <a:t>Heterogeneity is valuable in terms of task performance, energy efficiency, robustness</a:t>
            </a:r>
          </a:p>
          <a:p>
            <a:r>
              <a:rPr lang="en-GB" dirty="0"/>
              <a:t>Likely that the brain makes use of heterogeneity in these ways</a:t>
            </a:r>
          </a:p>
          <a:p>
            <a:r>
              <a:rPr lang="en-GB" dirty="0"/>
              <a:t>Possible that evolution has (optimally) tuned heterogeneity for this</a:t>
            </a:r>
          </a:p>
          <a:p>
            <a:endParaRPr lang="en-GB" dirty="0"/>
          </a:p>
          <a:p>
            <a:pPr marL="0" indent="0">
              <a:buNone/>
            </a:pPr>
            <a:r>
              <a:rPr lang="en-GB" dirty="0"/>
              <a:t>But:</a:t>
            </a:r>
          </a:p>
          <a:p>
            <a:r>
              <a:rPr lang="en-GB" dirty="0"/>
              <a:t>The brain has many mechanisms that can achieve the same thing</a:t>
            </a:r>
          </a:p>
          <a:p>
            <a:r>
              <a:rPr lang="en-GB" dirty="0"/>
              <a:t>Indeed in our models we have seen that we can achieve the same results using several mechanisms:</a:t>
            </a:r>
          </a:p>
          <a:p>
            <a:pPr lvl="1"/>
            <a:r>
              <a:rPr lang="en-GB" dirty="0" err="1"/>
              <a:t>Tunable</a:t>
            </a:r>
            <a:r>
              <a:rPr lang="en-GB" dirty="0"/>
              <a:t> (or even random) axonal delays </a:t>
            </a:r>
          </a:p>
          <a:p>
            <a:pPr lvl="1"/>
            <a:r>
              <a:rPr lang="en-GB" dirty="0"/>
              <a:t>Neuromodulation</a:t>
            </a:r>
          </a:p>
          <a:p>
            <a:pPr lvl="1"/>
            <a:r>
              <a:rPr lang="en-GB" dirty="0"/>
              <a:t>A low dimensional, slow memory state</a:t>
            </a:r>
          </a:p>
          <a:p>
            <a:r>
              <a:rPr lang="en-GB" dirty="0"/>
              <a:t>So can we conclude the brain uses heterogeneity?</a:t>
            </a:r>
          </a:p>
        </p:txBody>
      </p:sp>
      <p:grpSp>
        <p:nvGrpSpPr>
          <p:cNvPr id="13" name="Group 12">
            <a:extLst>
              <a:ext uri="{FF2B5EF4-FFF2-40B4-BE49-F238E27FC236}">
                <a16:creationId xmlns:a16="http://schemas.microsoft.com/office/drawing/2014/main" id="{F967B2F8-3066-5A2C-0BB2-A19EB1C2AD54}"/>
              </a:ext>
            </a:extLst>
          </p:cNvPr>
          <p:cNvGrpSpPr/>
          <p:nvPr/>
        </p:nvGrpSpPr>
        <p:grpSpPr>
          <a:xfrm>
            <a:off x="6935152" y="4819884"/>
            <a:ext cx="1541319" cy="1655991"/>
            <a:chOff x="6321967" y="4776852"/>
            <a:chExt cx="1541319" cy="1655991"/>
          </a:xfrm>
        </p:grpSpPr>
        <p:pic>
          <p:nvPicPr>
            <p:cNvPr id="4" name="Picture 3" descr="https://neural-reckoning.org/pub_heterogeneous_delays_low_bit-qrcode.png">
              <a:extLst>
                <a:ext uri="{FF2B5EF4-FFF2-40B4-BE49-F238E27FC236}">
                  <a16:creationId xmlns:a16="http://schemas.microsoft.com/office/drawing/2014/main" id="{E93DA17A-1BFB-7BF6-22CF-A48142EB1B79}"/>
                </a:ext>
              </a:extLst>
            </p:cNvPr>
            <p:cNvPicPr>
              <a:picLocks noChangeAspect="1"/>
            </p:cNvPicPr>
            <p:nvPr/>
          </p:nvPicPr>
          <p:blipFill>
            <a:blip r:embed="rId2"/>
            <a:stretch>
              <a:fillRect/>
            </a:stretch>
          </p:blipFill>
          <p:spPr>
            <a:xfrm>
              <a:off x="6392571" y="4776852"/>
              <a:ext cx="1400112" cy="1400112"/>
            </a:xfrm>
            <a:prstGeom prst="rect">
              <a:avLst/>
            </a:prstGeom>
          </p:spPr>
        </p:pic>
        <p:sp>
          <p:nvSpPr>
            <p:cNvPr id="5" name="TextBox 4">
              <a:extLst>
                <a:ext uri="{FF2B5EF4-FFF2-40B4-BE49-F238E27FC236}">
                  <a16:creationId xmlns:a16="http://schemas.microsoft.com/office/drawing/2014/main" id="{16B15BB4-E91C-4478-BDE2-11DB14DEF0C5}"/>
                </a:ext>
              </a:extLst>
            </p:cNvPr>
            <p:cNvSpPr txBox="1"/>
            <p:nvPr/>
          </p:nvSpPr>
          <p:spPr>
            <a:xfrm>
              <a:off x="6321967" y="6094289"/>
              <a:ext cx="1541319" cy="338554"/>
            </a:xfrm>
            <a:prstGeom prst="rect">
              <a:avLst/>
            </a:prstGeom>
            <a:noFill/>
          </p:spPr>
          <p:txBody>
            <a:bodyPr wrap="none" rtlCol="0">
              <a:spAutoFit/>
            </a:bodyPr>
            <a:lstStyle/>
            <a:p>
              <a:pPr algn="l"/>
              <a:r>
                <a:rPr lang="en-GB" sz="1600" dirty="0"/>
                <a:t>Sun et al. (2025)</a:t>
              </a:r>
            </a:p>
          </p:txBody>
        </p:sp>
      </p:grpSp>
      <p:grpSp>
        <p:nvGrpSpPr>
          <p:cNvPr id="14" name="Group 13">
            <a:extLst>
              <a:ext uri="{FF2B5EF4-FFF2-40B4-BE49-F238E27FC236}">
                <a16:creationId xmlns:a16="http://schemas.microsoft.com/office/drawing/2014/main" id="{68755CDF-1A46-C7D9-4436-A9DCF9A0738C}"/>
              </a:ext>
            </a:extLst>
          </p:cNvPr>
          <p:cNvGrpSpPr/>
          <p:nvPr/>
        </p:nvGrpSpPr>
        <p:grpSpPr>
          <a:xfrm>
            <a:off x="8735867" y="4819882"/>
            <a:ext cx="1704893" cy="1902214"/>
            <a:chOff x="8122682" y="4776850"/>
            <a:chExt cx="1704893" cy="1902214"/>
          </a:xfrm>
        </p:grpSpPr>
        <p:pic>
          <p:nvPicPr>
            <p:cNvPr id="6" name="Picture 5" descr="https://neural-reckoning.org/pub_neuromodulation_enhances_sensory-qrcode.png">
              <a:extLst>
                <a:ext uri="{FF2B5EF4-FFF2-40B4-BE49-F238E27FC236}">
                  <a16:creationId xmlns:a16="http://schemas.microsoft.com/office/drawing/2014/main" id="{DFD22AB7-684B-8B68-DD53-099201D53F0C}"/>
                </a:ext>
              </a:extLst>
            </p:cNvPr>
            <p:cNvPicPr>
              <a:picLocks noChangeAspect="1"/>
            </p:cNvPicPr>
            <p:nvPr/>
          </p:nvPicPr>
          <p:blipFill>
            <a:blip r:embed="rId3"/>
            <a:stretch>
              <a:fillRect/>
            </a:stretch>
          </p:blipFill>
          <p:spPr>
            <a:xfrm>
              <a:off x="8275073" y="4776850"/>
              <a:ext cx="1400113" cy="1400113"/>
            </a:xfrm>
            <a:prstGeom prst="rect">
              <a:avLst/>
            </a:prstGeom>
          </p:spPr>
        </p:pic>
        <p:sp>
          <p:nvSpPr>
            <p:cNvPr id="7" name="TextBox 6">
              <a:extLst>
                <a:ext uri="{FF2B5EF4-FFF2-40B4-BE49-F238E27FC236}">
                  <a16:creationId xmlns:a16="http://schemas.microsoft.com/office/drawing/2014/main" id="{D1C8E60F-232A-0CED-9F12-BA5A83B57CEB}"/>
                </a:ext>
              </a:extLst>
            </p:cNvPr>
            <p:cNvSpPr txBox="1"/>
            <p:nvPr/>
          </p:nvSpPr>
          <p:spPr>
            <a:xfrm>
              <a:off x="8122682" y="6094289"/>
              <a:ext cx="1704893" cy="584775"/>
            </a:xfrm>
            <a:prstGeom prst="rect">
              <a:avLst/>
            </a:prstGeom>
            <a:noFill/>
          </p:spPr>
          <p:txBody>
            <a:bodyPr wrap="square" rtlCol="0">
              <a:spAutoFit/>
            </a:bodyPr>
            <a:lstStyle/>
            <a:p>
              <a:pPr algn="ctr"/>
              <a:r>
                <a:rPr lang="en-GB" sz="1600" dirty="0"/>
                <a:t>AlKilany and Goodman (2026)</a:t>
              </a:r>
            </a:p>
          </p:txBody>
        </p:sp>
      </p:grpSp>
      <p:grpSp>
        <p:nvGrpSpPr>
          <p:cNvPr id="15" name="Group 14">
            <a:extLst>
              <a:ext uri="{FF2B5EF4-FFF2-40B4-BE49-F238E27FC236}">
                <a16:creationId xmlns:a16="http://schemas.microsoft.com/office/drawing/2014/main" id="{4A7CA370-FF3D-3693-6E84-80EB2F5708D4}"/>
              </a:ext>
            </a:extLst>
          </p:cNvPr>
          <p:cNvGrpSpPr/>
          <p:nvPr/>
        </p:nvGrpSpPr>
        <p:grpSpPr>
          <a:xfrm>
            <a:off x="10522547" y="4819882"/>
            <a:ext cx="1541319" cy="1658608"/>
            <a:chOff x="9909362" y="4776850"/>
            <a:chExt cx="1541319" cy="1658608"/>
          </a:xfrm>
        </p:grpSpPr>
        <p:pic>
          <p:nvPicPr>
            <p:cNvPr id="8" name="Picture 7" descr="https://neural-reckoning.org/pub_dual_memory_pathways-qrcode.png">
              <a:extLst>
                <a:ext uri="{FF2B5EF4-FFF2-40B4-BE49-F238E27FC236}">
                  <a16:creationId xmlns:a16="http://schemas.microsoft.com/office/drawing/2014/main" id="{938028D0-9E38-F9FA-1E0E-B7877F5AA2D9}"/>
                </a:ext>
              </a:extLst>
            </p:cNvPr>
            <p:cNvPicPr>
              <a:picLocks noChangeAspect="1"/>
            </p:cNvPicPr>
            <p:nvPr/>
          </p:nvPicPr>
          <p:blipFill>
            <a:blip r:embed="rId4"/>
            <a:stretch>
              <a:fillRect/>
            </a:stretch>
          </p:blipFill>
          <p:spPr>
            <a:xfrm>
              <a:off x="9979966" y="4776850"/>
              <a:ext cx="1400113" cy="1400113"/>
            </a:xfrm>
            <a:prstGeom prst="rect">
              <a:avLst/>
            </a:prstGeom>
          </p:spPr>
        </p:pic>
        <p:sp>
          <p:nvSpPr>
            <p:cNvPr id="12" name="TextBox 11">
              <a:extLst>
                <a:ext uri="{FF2B5EF4-FFF2-40B4-BE49-F238E27FC236}">
                  <a16:creationId xmlns:a16="http://schemas.microsoft.com/office/drawing/2014/main" id="{3531C500-7E4A-4FFD-DB85-5B4D133D1CD0}"/>
                </a:ext>
              </a:extLst>
            </p:cNvPr>
            <p:cNvSpPr txBox="1"/>
            <p:nvPr/>
          </p:nvSpPr>
          <p:spPr>
            <a:xfrm>
              <a:off x="9909362" y="6096904"/>
              <a:ext cx="1541319" cy="338554"/>
            </a:xfrm>
            <a:prstGeom prst="rect">
              <a:avLst/>
            </a:prstGeom>
            <a:noFill/>
          </p:spPr>
          <p:txBody>
            <a:bodyPr wrap="none" rtlCol="0">
              <a:spAutoFit/>
            </a:bodyPr>
            <a:lstStyle/>
            <a:p>
              <a:pPr algn="l"/>
              <a:r>
                <a:rPr lang="en-GB" sz="1600" dirty="0"/>
                <a:t>Sun et al. (2026)</a:t>
              </a:r>
            </a:p>
          </p:txBody>
        </p:sp>
      </p:grpSp>
    </p:spTree>
    <p:extLst>
      <p:ext uri="{BB962C8B-B14F-4D97-AF65-F5344CB8AC3E}">
        <p14:creationId xmlns:p14="http://schemas.microsoft.com/office/powerpoint/2010/main" val="1338981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C2C09-5114-8EC8-759D-A58237747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190E8-6EA1-90DD-A9F2-E59F58178046}"/>
              </a:ext>
            </a:extLst>
          </p:cNvPr>
          <p:cNvSpPr>
            <a:spLocks noGrp="1"/>
          </p:cNvSpPr>
          <p:nvPr>
            <p:ph type="title"/>
          </p:nvPr>
        </p:nvSpPr>
        <p:spPr/>
        <p:txBody>
          <a:bodyPr/>
          <a:lstStyle/>
          <a:p>
            <a:r>
              <a:rPr lang="en-GB" dirty="0"/>
              <a:t>But can we make these conclusions?</a:t>
            </a:r>
          </a:p>
        </p:txBody>
      </p:sp>
      <p:sp>
        <p:nvSpPr>
          <p:cNvPr id="3" name="Content Placeholder 2">
            <a:extLst>
              <a:ext uri="{FF2B5EF4-FFF2-40B4-BE49-F238E27FC236}">
                <a16:creationId xmlns:a16="http://schemas.microsoft.com/office/drawing/2014/main" id="{EA74424A-72FE-485F-6CD7-423AE09B8373}"/>
              </a:ext>
            </a:extLst>
          </p:cNvPr>
          <p:cNvSpPr>
            <a:spLocks noGrp="1"/>
          </p:cNvSpPr>
          <p:nvPr>
            <p:ph idx="1"/>
          </p:nvPr>
        </p:nvSpPr>
        <p:spPr/>
        <p:txBody>
          <a:bodyPr/>
          <a:lstStyle/>
          <a:p>
            <a:pPr marL="0" indent="0">
              <a:buNone/>
            </a:pPr>
            <a:r>
              <a:rPr lang="en-GB" dirty="0"/>
              <a:t>Would like to conclude that:</a:t>
            </a:r>
          </a:p>
          <a:p>
            <a:r>
              <a:rPr lang="en-GB" dirty="0"/>
              <a:t>Heterogeneity is valuable in terms of task performance, energy efficiency, robustness</a:t>
            </a:r>
          </a:p>
          <a:p>
            <a:r>
              <a:rPr lang="en-GB" dirty="0"/>
              <a:t>Likely that the brain makes use of heterogeneity in these ways</a:t>
            </a:r>
          </a:p>
          <a:p>
            <a:r>
              <a:rPr lang="en-GB" dirty="0"/>
              <a:t>Possible that evolution has (optimally) tuned heterogeneity for this</a:t>
            </a:r>
          </a:p>
          <a:p>
            <a:endParaRPr lang="en-GB" dirty="0"/>
          </a:p>
          <a:p>
            <a:pPr marL="0" indent="0">
              <a:buNone/>
            </a:pPr>
            <a:r>
              <a:rPr lang="en-GB" dirty="0"/>
              <a:t>But:</a:t>
            </a:r>
          </a:p>
          <a:p>
            <a:r>
              <a:rPr lang="en-GB" dirty="0"/>
              <a:t>Just because the brain has this mechanism available, doesn’t mean it’s tuned for it</a:t>
            </a:r>
          </a:p>
          <a:p>
            <a:r>
              <a:rPr lang="en-GB" dirty="0"/>
              <a:t>Does the similarity of the time constant distributions tell us anything?</a:t>
            </a:r>
          </a:p>
          <a:p>
            <a:r>
              <a:rPr lang="en-GB" dirty="0"/>
              <a:t>If not, how could we experimentally test this idea?</a:t>
            </a:r>
          </a:p>
          <a:p>
            <a:r>
              <a:rPr lang="en-GB" dirty="0"/>
              <a:t>Wouldn’t we need to create an alternative reality and re-run evolution to test it?</a:t>
            </a:r>
          </a:p>
          <a:p>
            <a:r>
              <a:rPr lang="en-GB" dirty="0"/>
              <a:t>If we can’t test it, can it tell us something about the brain anyway?</a:t>
            </a:r>
          </a:p>
        </p:txBody>
      </p:sp>
    </p:spTree>
    <p:extLst>
      <p:ext uri="{BB962C8B-B14F-4D97-AF65-F5344CB8AC3E}">
        <p14:creationId xmlns:p14="http://schemas.microsoft.com/office/powerpoint/2010/main" val="990554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365A8-6D2D-B3E8-897F-13660F86F75C}"/>
              </a:ext>
            </a:extLst>
          </p:cNvPr>
          <p:cNvSpPr>
            <a:spLocks noGrp="1"/>
          </p:cNvSpPr>
          <p:nvPr>
            <p:ph type="title"/>
          </p:nvPr>
        </p:nvSpPr>
        <p:spPr/>
        <p:txBody>
          <a:bodyPr/>
          <a:lstStyle/>
          <a:p>
            <a:pPr algn="ctr"/>
            <a:r>
              <a:rPr lang="en-GB" dirty="0"/>
              <a:t>Thanks!</a:t>
            </a:r>
          </a:p>
        </p:txBody>
      </p:sp>
      <p:pic>
        <p:nvPicPr>
          <p:cNvPr id="5" name="Picture 4">
            <a:extLst>
              <a:ext uri="{FF2B5EF4-FFF2-40B4-BE49-F238E27FC236}">
                <a16:creationId xmlns:a16="http://schemas.microsoft.com/office/drawing/2014/main" id="{4F40B770-27E7-89EA-0173-3150B572C20E}"/>
              </a:ext>
            </a:extLst>
          </p:cNvPr>
          <p:cNvPicPr>
            <a:picLocks noChangeAspect="1"/>
          </p:cNvPicPr>
          <p:nvPr/>
        </p:nvPicPr>
        <p:blipFill>
          <a:blip r:embed="rId2"/>
          <a:stretch>
            <a:fillRect/>
          </a:stretch>
        </p:blipFill>
        <p:spPr>
          <a:xfrm>
            <a:off x="2357617" y="3175224"/>
            <a:ext cx="1606550" cy="1606550"/>
          </a:xfrm>
          <a:prstGeom prst="rect">
            <a:avLst/>
          </a:prstGeom>
        </p:spPr>
      </p:pic>
      <p:pic>
        <p:nvPicPr>
          <p:cNvPr id="6" name="Picture 5">
            <a:extLst>
              <a:ext uri="{FF2B5EF4-FFF2-40B4-BE49-F238E27FC236}">
                <a16:creationId xmlns:a16="http://schemas.microsoft.com/office/drawing/2014/main" id="{8F9B698B-290D-3A6E-9DC0-5634B5549FC9}"/>
              </a:ext>
            </a:extLst>
          </p:cNvPr>
          <p:cNvPicPr>
            <a:picLocks noChangeAspect="1"/>
          </p:cNvPicPr>
          <p:nvPr/>
        </p:nvPicPr>
        <p:blipFill>
          <a:blip r:embed="rId3"/>
          <a:stretch>
            <a:fillRect/>
          </a:stretch>
        </p:blipFill>
        <p:spPr>
          <a:xfrm>
            <a:off x="2357617" y="1261606"/>
            <a:ext cx="1606550" cy="1606550"/>
          </a:xfrm>
          <a:prstGeom prst="rect">
            <a:avLst/>
          </a:prstGeom>
        </p:spPr>
      </p:pic>
      <p:sp>
        <p:nvSpPr>
          <p:cNvPr id="7" name="TextBox 6">
            <a:extLst>
              <a:ext uri="{FF2B5EF4-FFF2-40B4-BE49-F238E27FC236}">
                <a16:creationId xmlns:a16="http://schemas.microsoft.com/office/drawing/2014/main" id="{37623BC5-B838-F08B-D970-B4BA290AF306}"/>
              </a:ext>
            </a:extLst>
          </p:cNvPr>
          <p:cNvSpPr txBox="1"/>
          <p:nvPr/>
        </p:nvSpPr>
        <p:spPr>
          <a:xfrm>
            <a:off x="250373" y="1261605"/>
            <a:ext cx="2107244" cy="1015663"/>
          </a:xfrm>
          <a:prstGeom prst="rect">
            <a:avLst/>
          </a:prstGeom>
          <a:noFill/>
        </p:spPr>
        <p:txBody>
          <a:bodyPr wrap="none" rtlCol="0">
            <a:spAutoFit/>
          </a:bodyPr>
          <a:lstStyle/>
          <a:p>
            <a:pPr algn="l"/>
            <a:r>
              <a:rPr lang="en-GB" sz="2000" dirty="0"/>
              <a:t>Nicolas Perez</a:t>
            </a:r>
          </a:p>
          <a:p>
            <a:pPr algn="l"/>
            <a:r>
              <a:rPr lang="en-GB" sz="2000" dirty="0"/>
              <a:t>Heterogeneity</a:t>
            </a:r>
          </a:p>
          <a:p>
            <a:pPr algn="l"/>
            <a:r>
              <a:rPr lang="en-GB" sz="2000" dirty="0"/>
              <a:t>Now @ DeepMind</a:t>
            </a:r>
          </a:p>
        </p:txBody>
      </p:sp>
      <p:sp>
        <p:nvSpPr>
          <p:cNvPr id="8" name="TextBox 7">
            <a:extLst>
              <a:ext uri="{FF2B5EF4-FFF2-40B4-BE49-F238E27FC236}">
                <a16:creationId xmlns:a16="http://schemas.microsoft.com/office/drawing/2014/main" id="{691C86DD-F012-00A7-69B7-71227F25F358}"/>
              </a:ext>
            </a:extLst>
          </p:cNvPr>
          <p:cNvSpPr txBox="1"/>
          <p:nvPr/>
        </p:nvSpPr>
        <p:spPr>
          <a:xfrm>
            <a:off x="319943" y="3175222"/>
            <a:ext cx="2037674" cy="707886"/>
          </a:xfrm>
          <a:prstGeom prst="rect">
            <a:avLst/>
          </a:prstGeom>
          <a:noFill/>
        </p:spPr>
        <p:txBody>
          <a:bodyPr wrap="none" rtlCol="0">
            <a:spAutoFit/>
          </a:bodyPr>
          <a:lstStyle/>
          <a:p>
            <a:pPr algn="l"/>
            <a:r>
              <a:rPr lang="en-GB" sz="2000" dirty="0"/>
              <a:t>Abdal AlKilany</a:t>
            </a:r>
          </a:p>
          <a:p>
            <a:pPr algn="l"/>
            <a:r>
              <a:rPr lang="en-GB" sz="2000" dirty="0"/>
              <a:t>Neuromodulation</a:t>
            </a:r>
          </a:p>
        </p:txBody>
      </p:sp>
      <p:pic>
        <p:nvPicPr>
          <p:cNvPr id="9" name="Picture 8">
            <a:extLst>
              <a:ext uri="{FF2B5EF4-FFF2-40B4-BE49-F238E27FC236}">
                <a16:creationId xmlns:a16="http://schemas.microsoft.com/office/drawing/2014/main" id="{4401C80B-B618-466C-FAE9-51E56504A238}"/>
              </a:ext>
            </a:extLst>
          </p:cNvPr>
          <p:cNvPicPr>
            <a:picLocks noChangeAspect="1"/>
          </p:cNvPicPr>
          <p:nvPr/>
        </p:nvPicPr>
        <p:blipFill>
          <a:blip r:embed="rId4"/>
          <a:stretch>
            <a:fillRect/>
          </a:stretch>
        </p:blipFill>
        <p:spPr>
          <a:xfrm>
            <a:off x="2357616" y="5078318"/>
            <a:ext cx="1606551" cy="1606551"/>
          </a:xfrm>
          <a:prstGeom prst="rect">
            <a:avLst/>
          </a:prstGeom>
        </p:spPr>
      </p:pic>
      <p:sp>
        <p:nvSpPr>
          <p:cNvPr id="11" name="TextBox 10">
            <a:extLst>
              <a:ext uri="{FF2B5EF4-FFF2-40B4-BE49-F238E27FC236}">
                <a16:creationId xmlns:a16="http://schemas.microsoft.com/office/drawing/2014/main" id="{EE6A7F7F-8C0F-9944-2045-1EE5E7AF0156}"/>
              </a:ext>
            </a:extLst>
          </p:cNvPr>
          <p:cNvSpPr txBox="1"/>
          <p:nvPr/>
        </p:nvSpPr>
        <p:spPr>
          <a:xfrm>
            <a:off x="286151" y="5078317"/>
            <a:ext cx="2071465" cy="707886"/>
          </a:xfrm>
          <a:prstGeom prst="rect">
            <a:avLst/>
          </a:prstGeom>
          <a:noFill/>
        </p:spPr>
        <p:txBody>
          <a:bodyPr wrap="none" rtlCol="0">
            <a:spAutoFit/>
          </a:bodyPr>
          <a:lstStyle/>
          <a:p>
            <a:pPr algn="l"/>
            <a:r>
              <a:rPr lang="en-GB" sz="2000" dirty="0"/>
              <a:t>Pengfei Sun</a:t>
            </a:r>
          </a:p>
          <a:p>
            <a:pPr algn="l"/>
            <a:r>
              <a:rPr lang="en-GB" sz="2000" dirty="0"/>
              <a:t>Delay-based SNNs</a:t>
            </a:r>
          </a:p>
        </p:txBody>
      </p:sp>
      <p:grpSp>
        <p:nvGrpSpPr>
          <p:cNvPr id="12" name="Group 11">
            <a:extLst>
              <a:ext uri="{FF2B5EF4-FFF2-40B4-BE49-F238E27FC236}">
                <a16:creationId xmlns:a16="http://schemas.microsoft.com/office/drawing/2014/main" id="{1B7E2FF9-1825-4C8A-E7AD-C318DC4A70B6}"/>
              </a:ext>
            </a:extLst>
          </p:cNvPr>
          <p:cNvGrpSpPr/>
          <p:nvPr/>
        </p:nvGrpSpPr>
        <p:grpSpPr>
          <a:xfrm>
            <a:off x="4071645" y="5079625"/>
            <a:ext cx="1541319" cy="1655991"/>
            <a:chOff x="6321967" y="4776852"/>
            <a:chExt cx="1541319" cy="1655991"/>
          </a:xfrm>
        </p:grpSpPr>
        <p:pic>
          <p:nvPicPr>
            <p:cNvPr id="13" name="Picture 12" descr="https://neural-reckoning.org/pub_heterogeneous_delays_low_bit-qrcode.png">
              <a:extLst>
                <a:ext uri="{FF2B5EF4-FFF2-40B4-BE49-F238E27FC236}">
                  <a16:creationId xmlns:a16="http://schemas.microsoft.com/office/drawing/2014/main" id="{40165573-263A-113C-8A4A-BD9EE4AE28EA}"/>
                </a:ext>
              </a:extLst>
            </p:cNvPr>
            <p:cNvPicPr>
              <a:picLocks noChangeAspect="1"/>
            </p:cNvPicPr>
            <p:nvPr/>
          </p:nvPicPr>
          <p:blipFill>
            <a:blip r:embed="rId5"/>
            <a:stretch>
              <a:fillRect/>
            </a:stretch>
          </p:blipFill>
          <p:spPr>
            <a:xfrm>
              <a:off x="6392571" y="4776852"/>
              <a:ext cx="1400112" cy="1400112"/>
            </a:xfrm>
            <a:prstGeom prst="rect">
              <a:avLst/>
            </a:prstGeom>
          </p:spPr>
        </p:pic>
        <p:sp>
          <p:nvSpPr>
            <p:cNvPr id="14" name="TextBox 13">
              <a:extLst>
                <a:ext uri="{FF2B5EF4-FFF2-40B4-BE49-F238E27FC236}">
                  <a16:creationId xmlns:a16="http://schemas.microsoft.com/office/drawing/2014/main" id="{955469F2-582E-CA2C-DCE5-3C4485E1BECF}"/>
                </a:ext>
              </a:extLst>
            </p:cNvPr>
            <p:cNvSpPr txBox="1"/>
            <p:nvPr/>
          </p:nvSpPr>
          <p:spPr>
            <a:xfrm>
              <a:off x="6321967" y="6094289"/>
              <a:ext cx="1541319" cy="338554"/>
            </a:xfrm>
            <a:prstGeom prst="rect">
              <a:avLst/>
            </a:prstGeom>
            <a:noFill/>
          </p:spPr>
          <p:txBody>
            <a:bodyPr wrap="none" rtlCol="0">
              <a:spAutoFit/>
            </a:bodyPr>
            <a:lstStyle/>
            <a:p>
              <a:pPr algn="l"/>
              <a:r>
                <a:rPr lang="en-GB" sz="1600" dirty="0"/>
                <a:t>Sun et al. (2025)</a:t>
              </a:r>
            </a:p>
          </p:txBody>
        </p:sp>
      </p:grpSp>
      <p:grpSp>
        <p:nvGrpSpPr>
          <p:cNvPr id="15" name="Group 14">
            <a:extLst>
              <a:ext uri="{FF2B5EF4-FFF2-40B4-BE49-F238E27FC236}">
                <a16:creationId xmlns:a16="http://schemas.microsoft.com/office/drawing/2014/main" id="{0EE68E76-94D6-5378-A3C1-112BEAE17065}"/>
              </a:ext>
            </a:extLst>
          </p:cNvPr>
          <p:cNvGrpSpPr/>
          <p:nvPr/>
        </p:nvGrpSpPr>
        <p:grpSpPr>
          <a:xfrm>
            <a:off x="3989857" y="3027392"/>
            <a:ext cx="1704893" cy="1902214"/>
            <a:chOff x="8122682" y="4776850"/>
            <a:chExt cx="1704893" cy="1902214"/>
          </a:xfrm>
        </p:grpSpPr>
        <p:pic>
          <p:nvPicPr>
            <p:cNvPr id="16" name="Picture 15" descr="https://neural-reckoning.org/pub_neuromodulation_enhances_sensory-qrcode.png">
              <a:extLst>
                <a:ext uri="{FF2B5EF4-FFF2-40B4-BE49-F238E27FC236}">
                  <a16:creationId xmlns:a16="http://schemas.microsoft.com/office/drawing/2014/main" id="{439BA49A-6AA7-4F09-EA08-4AABF7BF09C7}"/>
                </a:ext>
              </a:extLst>
            </p:cNvPr>
            <p:cNvPicPr>
              <a:picLocks noChangeAspect="1"/>
            </p:cNvPicPr>
            <p:nvPr/>
          </p:nvPicPr>
          <p:blipFill>
            <a:blip r:embed="rId6"/>
            <a:stretch>
              <a:fillRect/>
            </a:stretch>
          </p:blipFill>
          <p:spPr>
            <a:xfrm>
              <a:off x="8275073" y="4776850"/>
              <a:ext cx="1400113" cy="1400113"/>
            </a:xfrm>
            <a:prstGeom prst="rect">
              <a:avLst/>
            </a:prstGeom>
          </p:spPr>
        </p:pic>
        <p:sp>
          <p:nvSpPr>
            <p:cNvPr id="17" name="TextBox 16">
              <a:extLst>
                <a:ext uri="{FF2B5EF4-FFF2-40B4-BE49-F238E27FC236}">
                  <a16:creationId xmlns:a16="http://schemas.microsoft.com/office/drawing/2014/main" id="{5A4FE9C0-F062-6EC8-DB93-6398C1601408}"/>
                </a:ext>
              </a:extLst>
            </p:cNvPr>
            <p:cNvSpPr txBox="1"/>
            <p:nvPr/>
          </p:nvSpPr>
          <p:spPr>
            <a:xfrm>
              <a:off x="8122682" y="6094289"/>
              <a:ext cx="1704893" cy="584775"/>
            </a:xfrm>
            <a:prstGeom prst="rect">
              <a:avLst/>
            </a:prstGeom>
            <a:noFill/>
          </p:spPr>
          <p:txBody>
            <a:bodyPr wrap="square" rtlCol="0">
              <a:spAutoFit/>
            </a:bodyPr>
            <a:lstStyle/>
            <a:p>
              <a:pPr algn="ctr"/>
              <a:r>
                <a:rPr lang="en-GB" sz="1600" dirty="0"/>
                <a:t>AlKilany and Goodman (2026)</a:t>
              </a:r>
            </a:p>
          </p:txBody>
        </p:sp>
      </p:grpSp>
      <p:grpSp>
        <p:nvGrpSpPr>
          <p:cNvPr id="18" name="Group 17">
            <a:extLst>
              <a:ext uri="{FF2B5EF4-FFF2-40B4-BE49-F238E27FC236}">
                <a16:creationId xmlns:a16="http://schemas.microsoft.com/office/drawing/2014/main" id="{A96ECC32-9328-6934-97A1-B1715A9909AF}"/>
              </a:ext>
            </a:extLst>
          </p:cNvPr>
          <p:cNvGrpSpPr/>
          <p:nvPr/>
        </p:nvGrpSpPr>
        <p:grpSpPr>
          <a:xfrm>
            <a:off x="5683568" y="5078317"/>
            <a:ext cx="1541319" cy="1658608"/>
            <a:chOff x="9909362" y="4776850"/>
            <a:chExt cx="1541319" cy="1658608"/>
          </a:xfrm>
        </p:grpSpPr>
        <p:pic>
          <p:nvPicPr>
            <p:cNvPr id="19" name="Picture 18" descr="https://neural-reckoning.org/pub_dual_memory_pathways-qrcode.png">
              <a:extLst>
                <a:ext uri="{FF2B5EF4-FFF2-40B4-BE49-F238E27FC236}">
                  <a16:creationId xmlns:a16="http://schemas.microsoft.com/office/drawing/2014/main" id="{DE0C8D87-0BF6-234B-4A43-EC322E0CE825}"/>
                </a:ext>
              </a:extLst>
            </p:cNvPr>
            <p:cNvPicPr>
              <a:picLocks noChangeAspect="1"/>
            </p:cNvPicPr>
            <p:nvPr/>
          </p:nvPicPr>
          <p:blipFill>
            <a:blip r:embed="rId7"/>
            <a:stretch>
              <a:fillRect/>
            </a:stretch>
          </p:blipFill>
          <p:spPr>
            <a:xfrm>
              <a:off x="9979966" y="4776850"/>
              <a:ext cx="1400113" cy="1400113"/>
            </a:xfrm>
            <a:prstGeom prst="rect">
              <a:avLst/>
            </a:prstGeom>
          </p:spPr>
        </p:pic>
        <p:sp>
          <p:nvSpPr>
            <p:cNvPr id="20" name="TextBox 19">
              <a:extLst>
                <a:ext uri="{FF2B5EF4-FFF2-40B4-BE49-F238E27FC236}">
                  <a16:creationId xmlns:a16="http://schemas.microsoft.com/office/drawing/2014/main" id="{F2C1C66E-EF2D-D591-AF27-D2B7535088B6}"/>
                </a:ext>
              </a:extLst>
            </p:cNvPr>
            <p:cNvSpPr txBox="1"/>
            <p:nvPr/>
          </p:nvSpPr>
          <p:spPr>
            <a:xfrm>
              <a:off x="9909362" y="6096904"/>
              <a:ext cx="1541319" cy="338554"/>
            </a:xfrm>
            <a:prstGeom prst="rect">
              <a:avLst/>
            </a:prstGeom>
            <a:noFill/>
          </p:spPr>
          <p:txBody>
            <a:bodyPr wrap="none" rtlCol="0">
              <a:spAutoFit/>
            </a:bodyPr>
            <a:lstStyle/>
            <a:p>
              <a:pPr algn="l"/>
              <a:r>
                <a:rPr lang="en-GB" sz="1600" dirty="0"/>
                <a:t>Sun et al. (2026)</a:t>
              </a:r>
            </a:p>
          </p:txBody>
        </p:sp>
      </p:grpSp>
      <p:pic>
        <p:nvPicPr>
          <p:cNvPr id="22" name="Picture 21" descr="https://neural-reckoning.org/pub_heterogeneity-qrcode.png">
            <a:extLst>
              <a:ext uri="{FF2B5EF4-FFF2-40B4-BE49-F238E27FC236}">
                <a16:creationId xmlns:a16="http://schemas.microsoft.com/office/drawing/2014/main" id="{D63AE32B-4579-A36B-FEBC-8376374315A2}"/>
              </a:ext>
            </a:extLst>
          </p:cNvPr>
          <p:cNvPicPr>
            <a:picLocks noChangeAspect="1"/>
          </p:cNvPicPr>
          <p:nvPr/>
        </p:nvPicPr>
        <p:blipFill>
          <a:blip r:embed="rId8"/>
          <a:stretch>
            <a:fillRect/>
          </a:stretch>
        </p:blipFill>
        <p:spPr>
          <a:xfrm>
            <a:off x="4071645" y="1256418"/>
            <a:ext cx="1519635" cy="1519635"/>
          </a:xfrm>
          <a:prstGeom prst="rect">
            <a:avLst/>
          </a:prstGeom>
        </p:spPr>
      </p:pic>
      <p:sp>
        <p:nvSpPr>
          <p:cNvPr id="24" name="TextBox 23">
            <a:extLst>
              <a:ext uri="{FF2B5EF4-FFF2-40B4-BE49-F238E27FC236}">
                <a16:creationId xmlns:a16="http://schemas.microsoft.com/office/drawing/2014/main" id="{6BCCAB0F-CCEF-42DB-70CF-550F0576A273}"/>
              </a:ext>
            </a:extLst>
          </p:cNvPr>
          <p:cNvSpPr txBox="1"/>
          <p:nvPr/>
        </p:nvSpPr>
        <p:spPr>
          <a:xfrm>
            <a:off x="5568804" y="1816181"/>
            <a:ext cx="2063835" cy="400110"/>
          </a:xfrm>
          <a:prstGeom prst="rect">
            <a:avLst/>
          </a:prstGeom>
          <a:noFill/>
        </p:spPr>
        <p:txBody>
          <a:bodyPr wrap="none" rtlCol="0">
            <a:spAutoFit/>
          </a:bodyPr>
          <a:lstStyle/>
          <a:p>
            <a:pPr algn="l"/>
            <a:r>
              <a:rPr lang="en-GB" sz="2000" dirty="0"/>
              <a:t>Perez et al. (2021)</a:t>
            </a:r>
          </a:p>
        </p:txBody>
      </p:sp>
      <p:sp>
        <p:nvSpPr>
          <p:cNvPr id="25" name="TextBox 24">
            <a:extLst>
              <a:ext uri="{FF2B5EF4-FFF2-40B4-BE49-F238E27FC236}">
                <a16:creationId xmlns:a16="http://schemas.microsoft.com/office/drawing/2014/main" id="{50F0037B-9601-DA1A-54B2-4EE8050B5DD6}"/>
              </a:ext>
            </a:extLst>
          </p:cNvPr>
          <p:cNvSpPr txBox="1"/>
          <p:nvPr/>
        </p:nvSpPr>
        <p:spPr>
          <a:xfrm>
            <a:off x="6376713" y="3245502"/>
            <a:ext cx="5196714" cy="707886"/>
          </a:xfrm>
          <a:prstGeom prst="rect">
            <a:avLst/>
          </a:prstGeom>
          <a:noFill/>
        </p:spPr>
        <p:txBody>
          <a:bodyPr wrap="square" rtlCol="0">
            <a:spAutoFit/>
          </a:bodyPr>
          <a:lstStyle/>
          <a:p>
            <a:pPr algn="l"/>
            <a:r>
              <a:rPr lang="en-GB" sz="2000" dirty="0">
                <a:solidFill>
                  <a:srgbClr val="7030A0"/>
                </a:solidFill>
              </a:rPr>
              <a:t>And thank you for listening to me expressing my existential doubts about my work ❤️</a:t>
            </a:r>
          </a:p>
        </p:txBody>
      </p:sp>
    </p:spTree>
    <p:extLst>
      <p:ext uri="{BB962C8B-B14F-4D97-AF65-F5344CB8AC3E}">
        <p14:creationId xmlns:p14="http://schemas.microsoft.com/office/powerpoint/2010/main" val="3545811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EEE9"/>
        </a:solidFill>
        <a:effectLst/>
      </p:bgPr>
    </p:bg>
    <p:spTree>
      <p:nvGrpSpPr>
        <p:cNvPr id="1" name="">
          <a:extLst>
            <a:ext uri="{FF2B5EF4-FFF2-40B4-BE49-F238E27FC236}">
              <a16:creationId xmlns:a16="http://schemas.microsoft.com/office/drawing/2014/main" id="{E2CFBEDE-7D36-F075-5764-5879F7F85EB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E2B9F2C-649B-A1C1-320C-809361218875}"/>
              </a:ext>
            </a:extLst>
          </p:cNvPr>
          <p:cNvSpPr txBox="1"/>
          <p:nvPr/>
        </p:nvSpPr>
        <p:spPr>
          <a:xfrm>
            <a:off x="0" y="0"/>
            <a:ext cx="81280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Before networking + food</a:t>
            </a:r>
          </a:p>
        </p:txBody>
      </p:sp>
      <p:sp>
        <p:nvSpPr>
          <p:cNvPr id="12" name="TextBox 11">
            <a:extLst>
              <a:ext uri="{FF2B5EF4-FFF2-40B4-BE49-F238E27FC236}">
                <a16:creationId xmlns:a16="http://schemas.microsoft.com/office/drawing/2014/main" id="{A13F42A8-974C-4FE7-2614-61CCD2764E9C}"/>
              </a:ext>
            </a:extLst>
          </p:cNvPr>
          <p:cNvSpPr txBox="1"/>
          <p:nvPr/>
        </p:nvSpPr>
        <p:spPr>
          <a:xfrm>
            <a:off x="0" y="1320323"/>
            <a:ext cx="7518400"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srgbClr val="9A7BE8"/>
                </a:solidFill>
                <a:effectLst/>
                <a:uLnTx/>
                <a:uFillTx/>
                <a:latin typeface="Consolas" panose="020B0609020204030204" pitchFamily="49" charset="0"/>
                <a:ea typeface="+mn-ea"/>
                <a:cs typeface="+mn-cs"/>
              </a:rPr>
              <a:t>Please complete this survey from the Crick Networking Fund (5m)</a:t>
            </a:r>
          </a:p>
        </p:txBody>
      </p:sp>
      <p:pic>
        <p:nvPicPr>
          <p:cNvPr id="4" name="Picture 3">
            <a:extLst>
              <a:ext uri="{FF2B5EF4-FFF2-40B4-BE49-F238E27FC236}">
                <a16:creationId xmlns:a16="http://schemas.microsoft.com/office/drawing/2014/main" id="{817B71EA-0736-2904-C64C-32CBCD1824CD}"/>
              </a:ext>
            </a:extLst>
          </p:cNvPr>
          <p:cNvPicPr>
            <a:picLocks noChangeAspect="1"/>
          </p:cNvPicPr>
          <p:nvPr/>
        </p:nvPicPr>
        <p:blipFill>
          <a:blip r:embed="rId3">
            <a:clrChange>
              <a:clrFrom>
                <a:srgbClr val="FFFFFF"/>
              </a:clrFrom>
              <a:clrTo>
                <a:srgbClr val="FFFFFF">
                  <a:alpha val="0"/>
                </a:srgbClr>
              </a:clrTo>
            </a:clrChange>
            <a:alphaModFix/>
            <a:extLst>
              <a:ext uri="{28A0092B-C50C-407E-A947-70E740481C1C}">
                <a14:useLocalDpi xmlns:a14="http://schemas.microsoft.com/office/drawing/2010/main" val="0"/>
              </a:ext>
            </a:extLst>
          </a:blip>
          <a:stretch>
            <a:fillRect/>
          </a:stretch>
        </p:blipFill>
        <p:spPr>
          <a:xfrm rot="16200000">
            <a:off x="0" y="3133090"/>
            <a:ext cx="3724910" cy="3724910"/>
          </a:xfrm>
          <a:prstGeom prst="rect">
            <a:avLst/>
          </a:prstGeom>
        </p:spPr>
      </p:pic>
      <p:sp>
        <p:nvSpPr>
          <p:cNvPr id="2" name="TextBox 1">
            <a:extLst>
              <a:ext uri="{FF2B5EF4-FFF2-40B4-BE49-F238E27FC236}">
                <a16:creationId xmlns:a16="http://schemas.microsoft.com/office/drawing/2014/main" id="{C0DD1397-213E-1586-7680-425C8AAEB0D9}"/>
              </a:ext>
            </a:extLst>
          </p:cNvPr>
          <p:cNvSpPr txBox="1"/>
          <p:nvPr/>
        </p:nvSpPr>
        <p:spPr>
          <a:xfrm>
            <a:off x="4673600" y="4795897"/>
            <a:ext cx="7518400" cy="2062103"/>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Come and find one of the organisers if you’re interested in discussing / contributing to an opinion paper</a:t>
            </a:r>
          </a:p>
        </p:txBody>
      </p:sp>
    </p:spTree>
    <p:extLst>
      <p:ext uri="{BB962C8B-B14F-4D97-AF65-F5344CB8AC3E}">
        <p14:creationId xmlns:p14="http://schemas.microsoft.com/office/powerpoint/2010/main" val="957464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EEE9"/>
        </a:solidFill>
        <a:effectLst/>
      </p:bgPr>
    </p:bg>
    <p:spTree>
      <p:nvGrpSpPr>
        <p:cNvPr id="1" name="">
          <a:extLst>
            <a:ext uri="{FF2B5EF4-FFF2-40B4-BE49-F238E27FC236}">
              <a16:creationId xmlns:a16="http://schemas.microsoft.com/office/drawing/2014/main" id="{D22B004C-9325-4F36-1F2B-4571277D46F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4E30B99-092A-C545-582E-F0E02968BB2F}"/>
              </a:ext>
            </a:extLst>
          </p:cNvPr>
          <p:cNvSpPr txBox="1"/>
          <p:nvPr/>
        </p:nvSpPr>
        <p:spPr>
          <a:xfrm>
            <a:off x="7200900" y="0"/>
            <a:ext cx="4991100" cy="58477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Group discussion (1h)</a:t>
            </a:r>
          </a:p>
        </p:txBody>
      </p:sp>
      <p:sp>
        <p:nvSpPr>
          <p:cNvPr id="2" name="TextBox 1">
            <a:extLst>
              <a:ext uri="{FF2B5EF4-FFF2-40B4-BE49-F238E27FC236}">
                <a16:creationId xmlns:a16="http://schemas.microsoft.com/office/drawing/2014/main" id="{935B3E68-28D0-7A51-A02C-65BB71D6A395}"/>
              </a:ext>
            </a:extLst>
          </p:cNvPr>
          <p:cNvSpPr txBox="1"/>
          <p:nvPr/>
        </p:nvSpPr>
        <p:spPr>
          <a:xfrm>
            <a:off x="333375" y="584775"/>
            <a:ext cx="11525250" cy="5016758"/>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GB" sz="30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Potential outline</a:t>
            </a:r>
          </a:p>
          <a:p>
            <a:pPr marL="0" marR="0" lvl="0" indent="0" defTabSz="914400" rtl="0" eaLnBrk="1" fontAlgn="auto" latinLnBrk="0" hangingPunct="1">
              <a:lnSpc>
                <a:spcPct val="100000"/>
              </a:lnSpc>
              <a:spcBef>
                <a:spcPts val="0"/>
              </a:spcBef>
              <a:spcAft>
                <a:spcPts val="600"/>
              </a:spcAft>
              <a:buClrTx/>
              <a:buSzTx/>
              <a:buFontTx/>
              <a:buNone/>
              <a:tabLst/>
              <a:defRPr/>
            </a:pPr>
            <a:r>
              <a:rPr kumimoji="0" lang="en-GB" sz="3000" b="0" i="0" u="none" strike="noStrike" kern="1200" cap="none" spc="0" normalizeH="0" baseline="0" noProof="0" dirty="0">
                <a:ln>
                  <a:noFill/>
                </a:ln>
                <a:solidFill>
                  <a:srgbClr val="9A7BE8"/>
                </a:solidFill>
                <a:effectLst/>
                <a:uLnTx/>
                <a:uFillTx/>
                <a:latin typeface="Consolas" panose="020B0609020204030204" pitchFamily="49" charset="0"/>
                <a:ea typeface="+mn-ea"/>
                <a:cs typeface="+mn-cs"/>
              </a:rPr>
              <a:t>Introduce yourselves</a:t>
            </a:r>
          </a:p>
          <a:p>
            <a:pPr marL="457200" lvl="0" indent="-457200">
              <a:spcAft>
                <a:spcPts val="600"/>
              </a:spcAft>
              <a:buBlip>
                <a:blip>
                  <a:extLst>
                    <a:ext uri="{96DAC541-7B7A-43D3-8B79-37D633B846F1}">
                      <asvg:svgBlip xmlns:asvg="http://schemas.microsoft.com/office/drawing/2016/SVG/main" r:embed="rId3"/>
                    </a:ext>
                  </a:extLst>
                </a:blip>
              </a:buBlip>
            </a:pPr>
            <a:r>
              <a:rPr lang="en-US" sz="3000" dirty="0">
                <a:solidFill>
                  <a:srgbClr val="9A7BE8"/>
                </a:solidFill>
                <a:latin typeface="Consolas" panose="020B0609020204030204" pitchFamily="49" charset="0"/>
              </a:rPr>
              <a:t>Do we learn anything about the brain by evaluating how well models perform tasks?</a:t>
            </a:r>
          </a:p>
          <a:p>
            <a:pPr marL="457200" lvl="0" indent="-457200">
              <a:spcAft>
                <a:spcPts val="600"/>
              </a:spcAft>
              <a:buBlip>
                <a:blip>
                  <a:extLst>
                    <a:ext uri="{96DAC541-7B7A-43D3-8B79-37D633B846F1}">
                      <asvg:svgBlip xmlns:asvg="http://schemas.microsoft.com/office/drawing/2016/SVG/main" r:embed="rId3"/>
                    </a:ext>
                  </a:extLst>
                </a:blip>
              </a:buBlip>
            </a:pPr>
            <a:r>
              <a:rPr lang="en-US" sz="3000" dirty="0">
                <a:solidFill>
                  <a:srgbClr val="9A7BE8"/>
                </a:solidFill>
                <a:latin typeface="Consolas" panose="020B0609020204030204" pitchFamily="49" charset="0"/>
              </a:rPr>
              <a:t>Can we test theories about a multiply redundant brain?</a:t>
            </a:r>
          </a:p>
          <a:p>
            <a:pPr marL="457200" lvl="0" indent="-457200">
              <a:spcAft>
                <a:spcPts val="600"/>
              </a:spcAft>
              <a:buBlip>
                <a:blip>
                  <a:extLst>
                    <a:ext uri="{96DAC541-7B7A-43D3-8B79-37D633B846F1}">
                      <asvg:svgBlip xmlns:asvg="http://schemas.microsoft.com/office/drawing/2016/SVG/main" r:embed="rId3"/>
                    </a:ext>
                  </a:extLst>
                </a:blip>
              </a:buBlip>
            </a:pPr>
            <a:r>
              <a:rPr lang="en-US" sz="3000" dirty="0">
                <a:solidFill>
                  <a:srgbClr val="9A7BE8"/>
                </a:solidFill>
                <a:latin typeface="Consolas" panose="020B0609020204030204" pitchFamily="49" charset="0"/>
              </a:rPr>
              <a:t>How could we experimentally test theories about the function of neural heterogeneity?</a:t>
            </a:r>
          </a:p>
          <a:p>
            <a:pPr marL="457200" lvl="0" indent="-457200">
              <a:spcAft>
                <a:spcPts val="600"/>
              </a:spcAft>
              <a:buBlip>
                <a:blip>
                  <a:extLst>
                    <a:ext uri="{96DAC541-7B7A-43D3-8B79-37D633B846F1}">
                      <asvg:svgBlip xmlns:asvg="http://schemas.microsoft.com/office/drawing/2016/SVG/main" r:embed="rId3"/>
                    </a:ext>
                  </a:extLst>
                </a:blip>
              </a:buBlip>
            </a:pPr>
            <a:r>
              <a:rPr lang="en-US" sz="3000" dirty="0">
                <a:solidFill>
                  <a:srgbClr val="9A7BE8"/>
                </a:solidFill>
                <a:latin typeface="Consolas" panose="020B0609020204030204" pitchFamily="49" charset="0"/>
              </a:rPr>
              <a:t>Can theoretical work that can't be tested contribute to understanding the brain?</a:t>
            </a:r>
          </a:p>
        </p:txBody>
      </p:sp>
      <p:sp>
        <p:nvSpPr>
          <p:cNvPr id="5" name="TextBox 4">
            <a:extLst>
              <a:ext uri="{FF2B5EF4-FFF2-40B4-BE49-F238E27FC236}">
                <a16:creationId xmlns:a16="http://schemas.microsoft.com/office/drawing/2014/main" id="{38852850-A541-8B4D-3BD6-97798B4BC25B}"/>
              </a:ext>
            </a:extLst>
          </p:cNvPr>
          <p:cNvSpPr txBox="1"/>
          <p:nvPr/>
        </p:nvSpPr>
        <p:spPr>
          <a:xfrm>
            <a:off x="0" y="5780782"/>
            <a:ext cx="4991100"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3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Menti.com </a:t>
            </a:r>
          </a:p>
          <a:p>
            <a:pPr lvl="0">
              <a:defRPr/>
            </a:pPr>
            <a:r>
              <a:rPr kumimoji="0" lang="en-GB" sz="3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Code: </a:t>
            </a:r>
            <a:r>
              <a:rPr lang="en-GB" sz="3200">
                <a:solidFill>
                  <a:prstClr val="black"/>
                </a:solidFill>
                <a:latin typeface="Consolas" panose="020B0609020204030204" pitchFamily="49" charset="0"/>
              </a:rPr>
              <a:t>8443 4177</a:t>
            </a:r>
            <a:endParaRPr kumimoji="0" lang="en-GB" sz="3200" b="0" i="0" u="none" strike="noStrike" kern="1200" cap="none" spc="0" normalizeH="0" baseline="0" noProof="0" dirty="0">
              <a:ln>
                <a:noFill/>
              </a:ln>
              <a:solidFill>
                <a:prstClr val="black"/>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023418407"/>
      </p:ext>
    </p:extLst>
  </p:cSld>
  <p:clrMapOvr>
    <a:masterClrMapping/>
  </p:clrMapOvr>
</p:sld>
</file>

<file path=ppt/theme/theme1.xml><?xml version="1.0" encoding="utf-8"?>
<a:theme xmlns:a="http://schemas.openxmlformats.org/drawingml/2006/main" name="Dan's Imperial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19050">
          <a:tailEnd type="triangle" w="lg" len="lg"/>
        </a:ln>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lgn="l">
          <a:defRPr sz="2000" dirty="0"/>
        </a:defPPr>
      </a:lstStyle>
    </a:txDef>
  </a:objectDefaults>
  <a:extraClrSchemeLst/>
  <a:extLst>
    <a:ext uri="{05A4C25C-085E-4340-85A3-A5531E510DB2}">
      <thm15:themeFamily xmlns:thm15="http://schemas.microsoft.com/office/thememl/2012/main" name="Dan's Imperial Theme" id="{1E446DD1-5114-4E0D-97F9-E2C08BC92A25}" vid="{D46550DC-1CC9-4558-A13D-60590594704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1CC75529FAA34B987F048466488DEE" ma:contentTypeVersion="12" ma:contentTypeDescription="Create a new document." ma:contentTypeScope="" ma:versionID="5329aef109aa5aa9e3db0d24e7b9cff2">
  <xsd:schema xmlns:xsd="http://www.w3.org/2001/XMLSchema" xmlns:xs="http://www.w3.org/2001/XMLSchema" xmlns:p="http://schemas.microsoft.com/office/2006/metadata/properties" xmlns:ns3="aa581938-aaa6-48f1-a8e7-9621bfb675f9" xmlns:ns4="d8630c02-d2e0-4840-9905-f8c4ead66a0b" targetNamespace="http://schemas.microsoft.com/office/2006/metadata/properties" ma:root="true" ma:fieldsID="4e15df3176585f9f88ac5eabf5427fe6" ns3:_="" ns4:_="">
    <xsd:import namespace="aa581938-aaa6-48f1-a8e7-9621bfb675f9"/>
    <xsd:import namespace="d8630c02-d2e0-4840-9905-f8c4ead66a0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DateTaken" minOccurs="0"/>
                <xsd:element ref="ns3:MediaServiceAutoTags" minOccurs="0"/>
                <xsd:element ref="ns3:MediaServiceLocation"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581938-aaa6-48f1-a8e7-9621bfb675f9"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8630c02-d2e0-4840-9905-f8c4ead66a0b" elementFormDefault="qualified">
    <xsd:import namespace="http://schemas.microsoft.com/office/2006/documentManagement/types"/>
    <xsd:import namespace="http://schemas.microsoft.com/office/infopath/2007/PartnerControls"/>
    <xsd:element name="SharedWithUsers" ma:index="10"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description="" ma:internalName="SharedWithDetails" ma:readOnly="true">
      <xsd:simpleType>
        <xsd:restriction base="dms:Note">
          <xsd:maxLength value="255"/>
        </xsd:restriction>
      </xsd:simpleType>
    </xsd:element>
    <xsd:element name="SharingHintHash" ma:index="12" nillable="true" ma:displayName="Sharing Hint Hash" ma:descriptio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FD60540-4304-4942-BC3E-34C3695C95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581938-aaa6-48f1-a8e7-9621bfb675f9"/>
    <ds:schemaRef ds:uri="d8630c02-d2e0-4840-9905-f8c4ead66a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4266F99-3D34-4DAB-8804-6766DB7E7E99}">
  <ds:schemaRefs>
    <ds:schemaRef ds:uri="http://purl.org/dc/elements/1.1/"/>
    <ds:schemaRef ds:uri="http://schemas.microsoft.com/office/2006/documentManagement/types"/>
    <ds:schemaRef ds:uri="http://schemas.microsoft.com/office/infopath/2007/PartnerControls"/>
    <ds:schemaRef ds:uri="aa581938-aaa6-48f1-a8e7-9621bfb675f9"/>
    <ds:schemaRef ds:uri="http://schemas.microsoft.com/office/2006/metadata/properties"/>
    <ds:schemaRef ds:uri="http://purl.org/dc/terms/"/>
    <ds:schemaRef ds:uri="d8630c02-d2e0-4840-9905-f8c4ead66a0b"/>
    <ds:schemaRef ds:uri="http://purl.org/dc/dcmitype/"/>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4181AB0-286B-4AD6-9BFC-9B94AE67581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2021 - WWN - Neural heterogeneity promotes robust learning</Template>
  <TotalTime>0</TotalTime>
  <Words>1496</Words>
  <Application>Microsoft Office PowerPoint</Application>
  <PresentationFormat>Widescreen</PresentationFormat>
  <Paragraphs>155</Paragraphs>
  <Slides>16</Slides>
  <Notes>10</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16</vt:i4>
      </vt:variant>
    </vt:vector>
  </HeadingPairs>
  <TitlesOfParts>
    <vt:vector size="26" baseType="lpstr">
      <vt:lpstr>Calibri</vt:lpstr>
      <vt:lpstr>Aptos Display</vt:lpstr>
      <vt:lpstr>Consolas</vt:lpstr>
      <vt:lpstr>Calibri Light</vt:lpstr>
      <vt:lpstr>Cambria Math</vt:lpstr>
      <vt:lpstr>Aptos</vt:lpstr>
      <vt:lpstr>Arial</vt:lpstr>
      <vt:lpstr>Dan's Imperial Theme</vt:lpstr>
      <vt:lpstr>office theme</vt:lpstr>
      <vt:lpstr>Image</vt:lpstr>
      <vt:lpstr>PowerPoint Presentation</vt:lpstr>
      <vt:lpstr>Does heterogeneity help the brain and how could we know if it did?</vt:lpstr>
      <vt:lpstr>Plan for today</vt:lpstr>
      <vt:lpstr>Why is the brain so heterogeneous?</vt:lpstr>
      <vt:lpstr>Methods: model architecture</vt:lpstr>
      <vt:lpstr>Methods: training</vt:lpstr>
      <vt:lpstr>Methods: tasks</vt:lpstr>
      <vt:lpstr>Results: performance</vt:lpstr>
      <vt:lpstr>Results: distribution of time constants</vt:lpstr>
      <vt:lpstr>The conclusions we want to make</vt:lpstr>
      <vt:lpstr>But can we make these conclusions?</vt:lpstr>
      <vt:lpstr>But can we make these conclusions?</vt:lpstr>
      <vt:lpstr>But can we make these conclusions?</vt:lpstr>
      <vt:lpstr>Thanks!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 “spiking” neural network and why should I care?</dc:title>
  <dc:creator>Goodman, Daniel F M</dc:creator>
  <cp:lastModifiedBy>Goodman, Dan</cp:lastModifiedBy>
  <cp:revision>5</cp:revision>
  <dcterms:created xsi:type="dcterms:W3CDTF">2022-01-18T14:59:46Z</dcterms:created>
  <dcterms:modified xsi:type="dcterms:W3CDTF">2026-09-10T15:03:48Z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0x010100091CC75529FAA34B987F048466488DEE</vt:lpwstr>
  </property>
</Properties>
</file>